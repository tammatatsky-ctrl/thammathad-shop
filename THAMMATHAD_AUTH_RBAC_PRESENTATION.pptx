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65526" cy="73152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238" y="0"/>
            <a:ext cx="3065526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4476" y="0"/>
            <a:ext cx="3065526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1714" y="0"/>
            <a:ext cx="3065526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502920"/>
            <a:ext cx="11091672" cy="5760720"/>
          </a:xfrm>
          <a:prstGeom prst="roundRect">
            <a:avLst>
              <a:gd name="adj" fmla="val 8000"/>
            </a:avLst>
          </a:prstGeom>
          <a:solidFill>
            <a:srgbClr val="141B2D"/>
          </a:solidFill>
          <a:ln w="19050">
            <a:solidFill>
              <a:srgbClr val="1E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42716" y="914400"/>
            <a:ext cx="5303520" cy="384048"/>
          </a:xfrm>
          <a:prstGeom prst="roundRect">
            <a:avLst>
              <a:gd name="adj" fmla="val 40000"/>
            </a:avLst>
          </a:prstGeom>
          <a:solidFill>
            <a:srgbClr val="08214D"/>
          </a:solidFill>
          <a:ln w="15240">
            <a:solidFill>
              <a:srgbClr val="007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42716" y="969264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38BDF8"/>
                </a:solidFill>
                <a:latin typeface="Prompt-SemiBold"/>
              </a:rPr>
              <a:t>DJANGO 6.0.6  ×  APPLE LIQUID GLASS  ×  THAI RBAC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08760"/>
            <a:ext cx="1109167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F8FAFC"/>
                </a:solidFill>
                <a:latin typeface="Prompt-Bold"/>
              </a:rPr>
              <a:t>ระบบยืนยันตัวตนและการจัดการสิทธิ์ผู้ใช้งาน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94560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38BDF8"/>
                </a:solidFill>
                <a:latin typeface="Prompt-Bold"/>
              </a:rPr>
              <a:t>(User Authentication &amp; RBAC Architecture)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5176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Prompt-Light"/>
              </a:rPr>
              <a:t>คู่มือสรุปสถาปัตยกรรมระบบ  ·  ER Diagram  ·  System Flowcharts  ·  Step-by-Step Tutorial  ·  RBAC Matrix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20240" y="3108960"/>
            <a:ext cx="8348472" cy="12700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94560" y="342900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  <a:latin typeface="Prompt-Bold"/>
              </a:rPr>
              <a:t>[โครงการ]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342900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Prompt"/>
              </a:rPr>
              <a:t>ระบบร้านค้าออนไลน์ THAMMATHAD SHOP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384048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  <a:latin typeface="Prompt-Bold"/>
              </a:rPr>
              <a:t>[ผู้พัฒนา]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384048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Prompt"/>
              </a:rPr>
              <a:t>นายธรรมธัช รูปไธสง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42900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  <a:latin typeface="Prompt-Bold"/>
              </a:rPr>
              <a:t>[สาขาวิชา]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342900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Prompt"/>
              </a:rPr>
              <a:t>วิทยาการคอมพิวเตอร์ มหาวิทยาลัยราชภัฏกำแพงเพชร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84048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  <a:latin typeface="Prompt-Bold"/>
              </a:rPr>
              <a:t>[ผลทดสอบ]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384048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Prompt"/>
              </a:rPr>
              <a:t>117 Tests Passed (ผ่าน 100% ครบทุกโมดูล)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8116" y="4526280"/>
            <a:ext cx="1920240" cy="438912"/>
          </a:xfrm>
          <a:prstGeom prst="roundRect">
            <a:avLst>
              <a:gd name="adj" fmla="val 40000"/>
            </a:avLst>
          </a:prstGeom>
          <a:solidFill>
            <a:srgbClr val="0E1526"/>
          </a:solidFill>
          <a:ln w="17780">
            <a:solidFill>
              <a:srgbClr val="007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8116" y="4599432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0071E3"/>
                </a:solidFill>
                <a:latin typeface="Prompt-SemiBold"/>
              </a:rPr>
              <a:t>Register &amp; Validation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031236" y="4526280"/>
            <a:ext cx="1920240" cy="438912"/>
          </a:xfrm>
          <a:prstGeom prst="roundRect">
            <a:avLst>
              <a:gd name="adj" fmla="val 40000"/>
            </a:avLst>
          </a:prstGeom>
          <a:solidFill>
            <a:srgbClr val="0E1526"/>
          </a:solidFill>
          <a:ln w="1778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31236" y="4599432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06B6D4"/>
                </a:solidFill>
                <a:latin typeface="Prompt-SemiBold"/>
              </a:rPr>
              <a:t>Login / Logout + Session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34356" y="4526280"/>
            <a:ext cx="1920240" cy="438912"/>
          </a:xfrm>
          <a:prstGeom prst="roundRect">
            <a:avLst>
              <a:gd name="adj" fmla="val 40000"/>
            </a:avLst>
          </a:prstGeom>
          <a:solidFill>
            <a:srgbClr val="0E1526"/>
          </a:solidFill>
          <a:ln w="1778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34356" y="4599432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8B5CF6"/>
                </a:solidFill>
                <a:latin typeface="Prompt-SemiBold"/>
              </a:rPr>
              <a:t>Profile &amp; GIF Cover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37476" y="4526280"/>
            <a:ext cx="1920240" cy="438912"/>
          </a:xfrm>
          <a:prstGeom prst="roundRect">
            <a:avLst>
              <a:gd name="adj" fmla="val 40000"/>
            </a:avLst>
          </a:prstGeom>
          <a:solidFill>
            <a:srgbClr val="0E1526"/>
          </a:solidFill>
          <a:ln w="1778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37476" y="4599432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43F5E"/>
                </a:solidFill>
                <a:latin typeface="Prompt-SemiBold"/>
              </a:rPr>
              <a:t>Protected Pages &amp; 403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40596" y="4526280"/>
            <a:ext cx="1920240" cy="438912"/>
          </a:xfrm>
          <a:prstGeom prst="roundRect">
            <a:avLst>
              <a:gd name="adj" fmla="val 40000"/>
            </a:avLst>
          </a:prstGeom>
          <a:solidFill>
            <a:srgbClr val="0E1526"/>
          </a:solidFill>
          <a:ln w="1778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40596" y="4599432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59E0B"/>
                </a:solidFill>
                <a:latin typeface="Prompt-SemiBold"/>
              </a:rPr>
              <a:t>RBAC Roles &amp; Matrix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440680"/>
            <a:ext cx="1109167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64748B"/>
                </a:solidFill>
                <a:latin typeface="Prompt-Light"/>
              </a:rPr>
              <a:t>สถาปัตยกรรมระดับโปรดักชัน  ·  Dual-Zone Architecture  ·  PythonAnywhere Staging  ·  SQLite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6492240"/>
            <a:ext cx="3959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64748B"/>
                </a:solidFill>
                <a:latin typeface="Prompt-Light"/>
              </a:rPr>
              <a:t>— สไลด์ที่ 1 จาก 9 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6492240"/>
            <a:ext cx="3959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64748B"/>
                </a:solidFill>
                <a:latin typeface="Prompt-Light"/>
              </a:rPr>
              <a:t>นายธรรมธัช รูปไธสง  ·  มรภ.กำแพงเพชร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65526" cy="54864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238" y="0"/>
            <a:ext cx="3065526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4476" y="0"/>
            <a:ext cx="3065526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1714" y="0"/>
            <a:ext cx="3065526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4864"/>
            <a:ext cx="12188952" cy="438912"/>
          </a:xfrm>
          <a:prstGeom prst="rect">
            <a:avLst/>
          </a:prstGeom>
          <a:solidFill>
            <a:srgbClr val="0E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93776"/>
            <a:ext cx="12188952" cy="12700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  <a:latin typeface="Prompt-Bold"/>
              </a:rPr>
              <a:t>THAMMATHAD SHOP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128016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Prompt-Light"/>
              </a:rPr>
              <a:t>·  Architecture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28016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Prompt"/>
              </a:rPr>
              <a:t>Django 6.0.6  ·  Apple Liquid Glass UI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658368"/>
            <a:ext cx="1097280" cy="329184"/>
          </a:xfrm>
          <a:prstGeom prst="roundRect">
            <a:avLst>
              <a:gd name="adj" fmla="val 40000"/>
            </a:avLst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9494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Prompt-Bold"/>
              </a:rPr>
              <a:t>ส่วนที่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667512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Prompt-Bold"/>
              </a:rPr>
              <a:t>สรุปภาพรวมสถาปัตยกรรมระบบ (Architecture Overview)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078992"/>
            <a:ext cx="11274552" cy="12700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18872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Prompt"/>
              </a:rPr>
              <a:t>ระบบออกแบบบน Dual-Zone Architecture แยกขอบเขต Public Shop และ Staff Protected Zone อย่างเด็ดขาด พร้อมระบบความปลอดภัยระดับมาตรฐาน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1600200"/>
            <a:ext cx="3584448" cy="2011680"/>
          </a:xfrm>
          <a:prstGeom prst="roundRect">
            <a:avLst>
              <a:gd name="adj" fmla="val 10000"/>
            </a:avLst>
          </a:prstGeom>
          <a:solidFill>
            <a:srgbClr val="0E1526"/>
          </a:solidFill>
          <a:ln w="19050">
            <a:solidFill>
              <a:srgbClr val="007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1600200"/>
            <a:ext cx="3584448" cy="54864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1709928"/>
            <a:ext cx="325526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71E3"/>
                </a:solidFill>
                <a:latin typeface="Prompt-Bold"/>
              </a:rPr>
              <a:t>1. Register &amp; 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2057400"/>
            <a:ext cx="325526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Prompt"/>
              </a:rPr>
              <a:t>• CustomerRegistrationForm (forms.py)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2340864"/>
            <a:ext cx="325526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Prompt"/>
              </a:rPr>
              <a:t>• ตรวจเบอร์โทรไทย 10 หลัก (08/09/06...)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2624328"/>
            <a:ext cx="325526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Prompt"/>
              </a:rPr>
              <a:t>• ตรวจอีเมลซ้ำในระบบ + รหัสผ่าน ≥ 6 ตัว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2907792"/>
            <a:ext cx="325526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Prompt"/>
              </a:rPr>
              <a:t>• Real-time Password Strength Meter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3191256"/>
            <a:ext cx="325526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Prompt"/>
              </a:rPr>
              <a:t>• ผูกเข้า Django Group 'Member' อัตโนมัติ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1600200"/>
            <a:ext cx="3584448" cy="2011680"/>
          </a:xfrm>
          <a:prstGeom prst="roundRect">
            <a:avLst>
              <a:gd name="adj" fmla="val 10000"/>
            </a:avLst>
          </a:prstGeom>
          <a:solidFill>
            <a:srgbClr val="0E1526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97680" y="1600200"/>
            <a:ext cx="3584448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62272" y="1709928"/>
            <a:ext cx="325526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6B6D4"/>
                </a:solidFill>
                <a:latin typeface="Prompt-Bold"/>
              </a:rPr>
              <a:t>2. Login / Logout &amp; Session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62272" y="2057400"/>
            <a:ext cx="325526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Prompt"/>
              </a:rPr>
              <a:t>• แยก StaffLoginView (/staff/login/) ชัดเจน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62272" y="2340864"/>
            <a:ext cx="325526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Prompt"/>
              </a:rPr>
              <a:t>• CustomerLoginView (/account/login/)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62272" y="2624328"/>
            <a:ext cx="325526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Prompt"/>
              </a:rPr>
              <a:t>• Remember Me ติ๊กจำ 14 วัน (1,209,600 วิ)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62272" y="2907792"/>
            <a:ext cx="325526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Prompt"/>
              </a:rPr>
              <a:t>• ปิดเบราว์เซอร์ล้างเซสชันทันที (set_expiry 0)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62272" y="3191256"/>
            <a:ext cx="325526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Prompt"/>
              </a:rPr>
              <a:t>• Logout เป็น POST-only ป้องกัน CSRF 100%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38160" y="1600200"/>
            <a:ext cx="3584448" cy="2011680"/>
          </a:xfrm>
          <a:prstGeom prst="roundRect">
            <a:avLst>
              <a:gd name="adj" fmla="val 10000"/>
            </a:avLst>
          </a:prstGeom>
          <a:solidFill>
            <a:srgbClr val="0E1526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38160" y="1600200"/>
            <a:ext cx="3584448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02752" y="1709928"/>
            <a:ext cx="325526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8B5CF6"/>
                </a:solidFill>
                <a:latin typeface="Prompt-Bold"/>
              </a:rPr>
              <a:t>3. Profile &amp; GIF Cover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02752" y="2057400"/>
            <a:ext cx="325526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Prompt"/>
              </a:rPr>
              <a:t>• รองรับรูป Avatar และ Cover รูปแบบ GIF ขยับได้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02752" y="2340864"/>
            <a:ext cx="325526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Prompt"/>
              </a:rPr>
              <a:t>• สรุปยอดคำสั่งซื้อและยอดสะสม Real-time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02752" y="2624328"/>
            <a:ext cx="325526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Prompt"/>
              </a:rPr>
              <a:t>• วันที่สมัครแสดงปฏิทินไทย พ.ศ. (ThaiCalendar)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02752" y="2907792"/>
            <a:ext cx="325526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Prompt"/>
              </a:rPr>
              <a:t>• CustomerPasswordChangeView เปลี่ยนรหัสปลอดภัย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02752" y="3191256"/>
            <a:ext cx="325526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Prompt"/>
              </a:rPr>
              <a:t>• รองรับสมุดที่อยู่ลูกค้าหลายที่อยู่ (1:N)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3840480"/>
            <a:ext cx="5504688" cy="1645920"/>
          </a:xfrm>
          <a:prstGeom prst="roundRect">
            <a:avLst>
              <a:gd name="adj" fmla="val 10000"/>
            </a:avLst>
          </a:prstGeom>
          <a:solidFill>
            <a:srgbClr val="0E1526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7200" y="3840480"/>
            <a:ext cx="5504688" cy="5486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" y="3950208"/>
            <a:ext cx="517550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43F5E"/>
                </a:solidFill>
                <a:latin typeface="Prompt-Bold"/>
              </a:rPr>
              <a:t>4. Protected Pages &amp; 403 Forbidden Access Control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" y="4279392"/>
            <a:ext cx="517550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Prompt"/>
              </a:rPr>
              <a:t>• ป้องกันหน้าสำคัญด้วย ManagerRequiredMixin และ StaffRequiredMixin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" y="4553712"/>
            <a:ext cx="517550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Prompt"/>
              </a:rPr>
              <a:t>• หากยังไม่ล็อกอิน: 302 Redirect ไปหน้า Staff Login พร้อม next parameter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" y="4828032"/>
            <a:ext cx="517550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Prompt"/>
              </a:rPr>
              <a:t>• หากล็อกอินแล้วแต่ไม่มีสิทธิ์: raise PermissionDenied() ส่งรหัส HTTP 403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" y="5102352"/>
            <a:ext cx="517550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Prompt"/>
              </a:rPr>
              <a:t>• หน้า 403.html ดีไซน์ Apple Liquid Glass พร้อมปุ่ม 'สลับบัญชี' 1 คลิก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17920" y="3840480"/>
            <a:ext cx="5504688" cy="1645920"/>
          </a:xfrm>
          <a:prstGeom prst="roundRect">
            <a:avLst>
              <a:gd name="adj" fmla="val 10000"/>
            </a:avLst>
          </a:prstGeom>
          <a:solidFill>
            <a:srgbClr val="0E152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17920" y="3840480"/>
            <a:ext cx="5504688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82512" y="3950208"/>
            <a:ext cx="517550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Prompt-Bold"/>
              </a:rPr>
              <a:t>5. RBAC — Role-Based Access Control &amp; Groups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82512" y="4279392"/>
            <a:ext cx="517550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Prompt"/>
              </a:rPr>
              <a:t>• แบ่ง 3 บทบาทชัดเจน: Manager (ผู้จัดการ), Staff (เจ้าหน้าที่), Member (สมาชิก)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82512" y="4553712"/>
            <a:ext cx="517550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Prompt"/>
              </a:rPr>
              <a:t>• RBAC Portal (/staff/users/): ค้นหา, กรองสถานะ, สลับบทบาทได้ทันที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82512" y="4828032"/>
            <a:ext cx="517550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Prompt"/>
              </a:rPr>
              <a:t>• ซิงค์สถานะ is_staff อัตโนมัติเมื่อตั้งเป็น Manager หรือ Staff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82512" y="5102352"/>
            <a:ext cx="517550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Prompt"/>
              </a:rPr>
              <a:t>• ระบบทำงานร่วมกับ Django Groups &amp; Permissions ตามหลัก OOP &amp; Service Layer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57200" y="5669280"/>
            <a:ext cx="11274552" cy="594360"/>
          </a:xfrm>
          <a:prstGeom prst="roundRect">
            <a:avLst>
              <a:gd name="adj" fmla="val 10000"/>
            </a:avLst>
          </a:prstGeom>
          <a:solidFill>
            <a:srgbClr val="141B2D"/>
          </a:solidFill>
          <a:ln w="12700">
            <a:solidFill>
              <a:srgbClr val="1E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" y="5742432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8FAFC"/>
                </a:solidFill>
                <a:latin typeface="Prompt-Bold"/>
              </a:rPr>
              <a:t>Dual-Zone Architecture: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" y="5961888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34D399"/>
                </a:solidFill>
                <a:latin typeface="Prompt"/>
              </a:rPr>
              <a:t>[Public Shop]  /  /shop/  ตะกร้า  สมัครสมาชิก  เข้าสู่ระบบลูกค้า  ติดตามสถานะออเดอร์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43600" y="5961888"/>
            <a:ext cx="5669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38BDF8"/>
                </a:solidFill>
                <a:latin typeface="Prompt"/>
              </a:rPr>
              <a:t>[Staff Protected Zone]  /employees/  /orders/  /product/manage/  /staff/users/ (RBAC)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114800" y="6492240"/>
            <a:ext cx="3959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64748B"/>
                </a:solidFill>
                <a:latin typeface="Prompt-Light"/>
              </a:rPr>
              <a:t>— สไลด์ที่ 2 จาก 9 —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72400" y="6492240"/>
            <a:ext cx="3959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64748B"/>
                </a:solidFill>
                <a:latin typeface="Prompt-Light"/>
              </a:rPr>
              <a:t>นายธรรมธัช รูปไธสง  ·  มรภ.กำแพงเพชร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65526" cy="54864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238" y="0"/>
            <a:ext cx="3065526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4476" y="0"/>
            <a:ext cx="3065526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1714" y="0"/>
            <a:ext cx="3065526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4864"/>
            <a:ext cx="12188952" cy="438912"/>
          </a:xfrm>
          <a:prstGeom prst="rect">
            <a:avLst/>
          </a:prstGeom>
          <a:solidFill>
            <a:srgbClr val="0E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93776"/>
            <a:ext cx="12188952" cy="12700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  <a:latin typeface="Prompt-Bold"/>
              </a:rPr>
              <a:t>THAMMATHAD SHOP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128016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Prompt-Light"/>
              </a:rPr>
              <a:t>·  Database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28016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Prompt"/>
              </a:rPr>
              <a:t>Django 6.0.6  ·  Apple Liquid Glass UI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658368"/>
            <a:ext cx="1097280" cy="329184"/>
          </a:xfrm>
          <a:prstGeom prst="roundRect">
            <a:avLst>
              <a:gd name="adj" fmla="val 40000"/>
            </a:avLst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9494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Prompt-Bold"/>
              </a:rPr>
              <a:t>ส่วนที่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667512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Prompt-Bold"/>
              </a:rPr>
              <a:t>โครงสร้างฐานข้อมูลความสัมพันธ์ผู้ใช้งาน (User Model ER Diagram)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078992"/>
            <a:ext cx="11274552" cy="12700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18872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Prompt"/>
              </a:rPr>
              <a:t>ความสัมพันธ์: User &lt;-&gt; CustomerProfile (1:1)  ·  User &lt;-&gt; CustomerAddress (1:N)  ·  User &lt;-&gt; Group (N:M)  ·  User &lt;-&gt; Order (1:N)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1645920"/>
            <a:ext cx="2926080" cy="201168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" y="1645920"/>
            <a:ext cx="2926080" cy="365760"/>
          </a:xfrm>
          <a:prstGeom prst="roundRect">
            <a:avLst>
              <a:gd name="adj" fmla="val 1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1828800"/>
            <a:ext cx="2926080" cy="1828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1700784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Prompt-Bold"/>
              </a:rPr>
              <a:t>CustomerProfile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2084832"/>
            <a:ext cx="411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38BDF8"/>
                </a:solidFill>
                <a:latin typeface="Prompt-Bold"/>
              </a:rPr>
              <a:t>PK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2084832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F8FAFC"/>
                </a:solidFill>
                <a:latin typeface="Prompt"/>
              </a:rPr>
              <a:t>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2084832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>
                <a:solidFill>
                  <a:srgbClr val="94A3B8"/>
                </a:solidFill>
                <a:latin typeface="Prompt-Light"/>
              </a:rPr>
              <a:t>Integer (Auto)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2313432"/>
            <a:ext cx="411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38BDF8"/>
                </a:solidFill>
                <a:latin typeface="Prompt-Bold"/>
              </a:rPr>
              <a:t>FK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2313432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F8FAFC"/>
                </a:solidFill>
                <a:latin typeface="Prompt"/>
              </a:rPr>
              <a:t>user_id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2313432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>
                <a:solidFill>
                  <a:srgbClr val="94A3B8"/>
                </a:solidFill>
                <a:latin typeface="Prompt-Light"/>
              </a:rPr>
              <a:t>OneToOne(User)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2542032"/>
            <a:ext cx="411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</a:p>
        </p:txBody>
      </p:sp>
      <p:sp>
        <p:nvSpPr>
          <p:cNvPr id="27" name="TextBox 26"/>
          <p:cNvSpPr txBox="1"/>
          <p:nvPr/>
        </p:nvSpPr>
        <p:spPr>
          <a:xfrm>
            <a:off x="960120" y="2542032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F8FAFC"/>
                </a:solidFill>
                <a:latin typeface="Prompt"/>
              </a:rPr>
              <a:t>phone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2542032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>
                <a:solidFill>
                  <a:srgbClr val="94A3B8"/>
                </a:solidFill>
                <a:latin typeface="Prompt-Light"/>
              </a:rPr>
              <a:t>CharField(20)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2770632"/>
            <a:ext cx="411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</a:p>
        </p:txBody>
      </p:sp>
      <p:sp>
        <p:nvSpPr>
          <p:cNvPr id="30" name="TextBox 29"/>
          <p:cNvSpPr txBox="1"/>
          <p:nvPr/>
        </p:nvSpPr>
        <p:spPr>
          <a:xfrm>
            <a:off x="960120" y="2770632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F8FAFC"/>
                </a:solidFill>
                <a:latin typeface="Prompt"/>
              </a:rPr>
              <a:t>avatar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0" y="2770632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>
                <a:solidFill>
                  <a:srgbClr val="94A3B8"/>
                </a:solidFill>
                <a:latin typeface="Prompt-Light"/>
              </a:rPr>
              <a:t>ImageField(GIF)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2999232"/>
            <a:ext cx="411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</a:p>
        </p:txBody>
      </p:sp>
      <p:sp>
        <p:nvSpPr>
          <p:cNvPr id="33" name="TextBox 32"/>
          <p:cNvSpPr txBox="1"/>
          <p:nvPr/>
        </p:nvSpPr>
        <p:spPr>
          <a:xfrm>
            <a:off x="960120" y="2999232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F8FAFC"/>
                </a:solidFill>
                <a:latin typeface="Prompt"/>
              </a:rPr>
              <a:t>cover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0" y="2999232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>
                <a:solidFill>
                  <a:srgbClr val="94A3B8"/>
                </a:solidFill>
                <a:latin typeface="Prompt-Light"/>
              </a:rPr>
              <a:t>ImageField(GIF)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3227832"/>
            <a:ext cx="411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</a:p>
        </p:txBody>
      </p:sp>
      <p:sp>
        <p:nvSpPr>
          <p:cNvPr id="36" name="TextBox 35"/>
          <p:cNvSpPr txBox="1"/>
          <p:nvPr/>
        </p:nvSpPr>
        <p:spPr>
          <a:xfrm>
            <a:off x="960120" y="3227832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F8FAFC"/>
                </a:solidFill>
                <a:latin typeface="Prompt"/>
              </a:rPr>
              <a:t>created_at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86000" y="3227832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>
                <a:solidFill>
                  <a:srgbClr val="94A3B8"/>
                </a:solidFill>
                <a:latin typeface="Prompt-Light"/>
              </a:rPr>
              <a:t>DateTimeField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3931920"/>
            <a:ext cx="2926080" cy="21945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57200" y="3931920"/>
            <a:ext cx="2926080" cy="365760"/>
          </a:xfrm>
          <a:prstGeom prst="roundRect">
            <a:avLst>
              <a:gd name="adj" fmla="val 1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7200" y="4114800"/>
            <a:ext cx="2926080" cy="1828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3986784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Prompt-Bold"/>
              </a:rPr>
              <a:t>CustomerAddress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4370832"/>
            <a:ext cx="411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38BDF8"/>
                </a:solidFill>
                <a:latin typeface="Prompt-Bold"/>
              </a:rPr>
              <a:t>PK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4370832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F8FAFC"/>
                </a:solidFill>
                <a:latin typeface="Prompt"/>
              </a:rPr>
              <a:t>id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86000" y="4370832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>
                <a:solidFill>
                  <a:srgbClr val="94A3B8"/>
                </a:solidFill>
                <a:latin typeface="Prompt-Light"/>
              </a:rPr>
              <a:t>Integer (Auto)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" y="4599432"/>
            <a:ext cx="411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38BDF8"/>
                </a:solidFill>
                <a:latin typeface="Prompt-Bold"/>
              </a:rPr>
              <a:t>FK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0120" y="4599432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F8FAFC"/>
                </a:solidFill>
                <a:latin typeface="Prompt"/>
              </a:rPr>
              <a:t>user_id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286000" y="4599432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>
                <a:solidFill>
                  <a:srgbClr val="94A3B8"/>
                </a:solidFill>
                <a:latin typeface="Prompt-Light"/>
              </a:rPr>
              <a:t>ForeignKey(User)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4828032"/>
            <a:ext cx="411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</a:p>
        </p:txBody>
      </p:sp>
      <p:sp>
        <p:nvSpPr>
          <p:cNvPr id="49" name="TextBox 48"/>
          <p:cNvSpPr txBox="1"/>
          <p:nvPr/>
        </p:nvSpPr>
        <p:spPr>
          <a:xfrm>
            <a:off x="960120" y="4828032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F8FAFC"/>
                </a:solidFill>
                <a:latin typeface="Prompt"/>
              </a:rPr>
              <a:t>receiver_name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286000" y="4828032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>
                <a:solidFill>
                  <a:srgbClr val="94A3B8"/>
                </a:solidFill>
                <a:latin typeface="Prompt-Light"/>
              </a:rPr>
              <a:t>CharField(100)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6928" y="5056632"/>
            <a:ext cx="411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</a:p>
        </p:txBody>
      </p:sp>
      <p:sp>
        <p:nvSpPr>
          <p:cNvPr id="52" name="TextBox 51"/>
          <p:cNvSpPr txBox="1"/>
          <p:nvPr/>
        </p:nvSpPr>
        <p:spPr>
          <a:xfrm>
            <a:off x="960120" y="5056632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F8FAFC"/>
                </a:solidFill>
                <a:latin typeface="Prompt"/>
              </a:rPr>
              <a:t>phone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286000" y="5056632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>
                <a:solidFill>
                  <a:srgbClr val="94A3B8"/>
                </a:solidFill>
                <a:latin typeface="Prompt-Light"/>
              </a:rPr>
              <a:t>CharField(20)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5285232"/>
            <a:ext cx="411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</a:p>
        </p:txBody>
      </p:sp>
      <p:sp>
        <p:nvSpPr>
          <p:cNvPr id="55" name="TextBox 54"/>
          <p:cNvSpPr txBox="1"/>
          <p:nvPr/>
        </p:nvSpPr>
        <p:spPr>
          <a:xfrm>
            <a:off x="960120" y="5285232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F8FAFC"/>
                </a:solidFill>
                <a:latin typeface="Prompt"/>
              </a:rPr>
              <a:t>province / dist.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286000" y="5285232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>
                <a:solidFill>
                  <a:srgbClr val="94A3B8"/>
                </a:solidFill>
                <a:latin typeface="Prompt-Light"/>
              </a:rPr>
              <a:t>CharField(100)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6928" y="5513832"/>
            <a:ext cx="411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</a:p>
        </p:txBody>
      </p:sp>
      <p:sp>
        <p:nvSpPr>
          <p:cNvPr id="58" name="TextBox 57"/>
          <p:cNvSpPr txBox="1"/>
          <p:nvPr/>
        </p:nvSpPr>
        <p:spPr>
          <a:xfrm>
            <a:off x="960120" y="5513832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F8FAFC"/>
                </a:solidFill>
                <a:latin typeface="Prompt"/>
              </a:rPr>
              <a:t>zipcode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286000" y="5513832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>
                <a:solidFill>
                  <a:srgbClr val="94A3B8"/>
                </a:solidFill>
                <a:latin typeface="Prompt-Light"/>
              </a:rPr>
              <a:t>CharField(10)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6928" y="5742432"/>
            <a:ext cx="411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</a:p>
        </p:txBody>
      </p:sp>
      <p:sp>
        <p:nvSpPr>
          <p:cNvPr id="61" name="TextBox 60"/>
          <p:cNvSpPr txBox="1"/>
          <p:nvPr/>
        </p:nvSpPr>
        <p:spPr>
          <a:xfrm>
            <a:off x="960120" y="5742432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F8FAFC"/>
                </a:solidFill>
                <a:latin typeface="Prompt"/>
              </a:rPr>
              <a:t>is_default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286000" y="5742432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>
                <a:solidFill>
                  <a:srgbClr val="94A3B8"/>
                </a:solidFill>
                <a:latin typeface="Prompt-Light"/>
              </a:rPr>
              <a:t>BooleanField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023360" y="1645920"/>
            <a:ext cx="4114800" cy="31089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4023360" y="1645920"/>
            <a:ext cx="4114800" cy="365760"/>
          </a:xfrm>
          <a:prstGeom prst="roundRect">
            <a:avLst>
              <a:gd name="adj" fmla="val 10000"/>
            </a:avLst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023360" y="1828800"/>
            <a:ext cx="4114800" cy="1828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023360" y="1700784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Prompt-Bold"/>
              </a:rPr>
              <a:t>User (django.contrib.auth)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133088" y="2084832"/>
            <a:ext cx="411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38BDF8"/>
                </a:solidFill>
                <a:latin typeface="Prompt-Bold"/>
              </a:rPr>
              <a:t>PK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26280" y="2084832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F8FAFC"/>
                </a:solidFill>
                <a:latin typeface="Prompt"/>
              </a:rPr>
              <a:t>id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040880" y="2084832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>
                <a:solidFill>
                  <a:srgbClr val="94A3B8"/>
                </a:solidFill>
                <a:latin typeface="Prompt-Light"/>
              </a:rPr>
              <a:t>Integer (Primary Key)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133088" y="2313432"/>
            <a:ext cx="411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</a:p>
        </p:txBody>
      </p:sp>
      <p:sp>
        <p:nvSpPr>
          <p:cNvPr id="71" name="TextBox 70"/>
          <p:cNvSpPr txBox="1"/>
          <p:nvPr/>
        </p:nvSpPr>
        <p:spPr>
          <a:xfrm>
            <a:off x="4526280" y="2313432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F8FAFC"/>
                </a:solidFill>
                <a:latin typeface="Prompt"/>
              </a:rPr>
              <a:t>username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040880" y="2313432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>
                <a:solidFill>
                  <a:srgbClr val="94A3B8"/>
                </a:solidFill>
                <a:latin typeface="Prompt-Light"/>
              </a:rPr>
              <a:t>CharField (Email)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133088" y="2542032"/>
            <a:ext cx="411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</a:p>
        </p:txBody>
      </p:sp>
      <p:sp>
        <p:nvSpPr>
          <p:cNvPr id="74" name="TextBox 73"/>
          <p:cNvSpPr txBox="1"/>
          <p:nvPr/>
        </p:nvSpPr>
        <p:spPr>
          <a:xfrm>
            <a:off x="4526280" y="2542032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F8FAFC"/>
                </a:solidFill>
                <a:latin typeface="Prompt"/>
              </a:rPr>
              <a:t>email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040880" y="2542032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>
                <a:solidFill>
                  <a:srgbClr val="94A3B8"/>
                </a:solidFill>
                <a:latin typeface="Prompt-Light"/>
              </a:rPr>
              <a:t>EmailField (Unique)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133088" y="2770632"/>
            <a:ext cx="411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</a:p>
        </p:txBody>
      </p:sp>
      <p:sp>
        <p:nvSpPr>
          <p:cNvPr id="77" name="TextBox 76"/>
          <p:cNvSpPr txBox="1"/>
          <p:nvPr/>
        </p:nvSpPr>
        <p:spPr>
          <a:xfrm>
            <a:off x="4526280" y="2770632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F8FAFC"/>
                </a:solidFill>
                <a:latin typeface="Prompt"/>
              </a:rPr>
              <a:t>password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040880" y="2770632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>
                <a:solidFill>
                  <a:srgbClr val="94A3B8"/>
                </a:solidFill>
                <a:latin typeface="Prompt-Light"/>
              </a:rPr>
              <a:t>CharField (PBKDF2 Hash)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133088" y="2999232"/>
            <a:ext cx="411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</a:p>
        </p:txBody>
      </p:sp>
      <p:sp>
        <p:nvSpPr>
          <p:cNvPr id="80" name="TextBox 79"/>
          <p:cNvSpPr txBox="1"/>
          <p:nvPr/>
        </p:nvSpPr>
        <p:spPr>
          <a:xfrm>
            <a:off x="4526280" y="2999232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F8FAFC"/>
                </a:solidFill>
                <a:latin typeface="Prompt"/>
              </a:rPr>
              <a:t>is_active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040880" y="2999232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>
                <a:solidFill>
                  <a:srgbClr val="94A3B8"/>
                </a:solidFill>
                <a:latin typeface="Prompt-Light"/>
              </a:rPr>
              <a:t>BooleanField (Default: True)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133088" y="3227832"/>
            <a:ext cx="411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</a:p>
        </p:txBody>
      </p:sp>
      <p:sp>
        <p:nvSpPr>
          <p:cNvPr id="83" name="TextBox 82"/>
          <p:cNvSpPr txBox="1"/>
          <p:nvPr/>
        </p:nvSpPr>
        <p:spPr>
          <a:xfrm>
            <a:off x="4526280" y="3227832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F8FAFC"/>
                </a:solidFill>
                <a:latin typeface="Prompt"/>
              </a:rPr>
              <a:t>is_staff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040880" y="3227832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>
                <a:solidFill>
                  <a:srgbClr val="94A3B8"/>
                </a:solidFill>
                <a:latin typeface="Prompt-Light"/>
              </a:rPr>
              <a:t>BooleanField (Staff Flag)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133088" y="3456432"/>
            <a:ext cx="411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</a:p>
        </p:txBody>
      </p:sp>
      <p:sp>
        <p:nvSpPr>
          <p:cNvPr id="86" name="TextBox 85"/>
          <p:cNvSpPr txBox="1"/>
          <p:nvPr/>
        </p:nvSpPr>
        <p:spPr>
          <a:xfrm>
            <a:off x="4526280" y="3456432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F8FAFC"/>
                </a:solidFill>
                <a:latin typeface="Prompt"/>
              </a:rPr>
              <a:t>is_superuser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040880" y="3456432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>
                <a:solidFill>
                  <a:srgbClr val="94A3B8"/>
                </a:solidFill>
                <a:latin typeface="Prompt-Light"/>
              </a:rPr>
              <a:t>BooleanField (Superuser)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133088" y="3685032"/>
            <a:ext cx="411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</a:p>
        </p:txBody>
      </p:sp>
      <p:sp>
        <p:nvSpPr>
          <p:cNvPr id="89" name="TextBox 88"/>
          <p:cNvSpPr txBox="1"/>
          <p:nvPr/>
        </p:nvSpPr>
        <p:spPr>
          <a:xfrm>
            <a:off x="4526280" y="3685032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F8FAFC"/>
                </a:solidFill>
                <a:latin typeface="Prompt"/>
              </a:rPr>
              <a:t>date_joined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040880" y="3685032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>
                <a:solidFill>
                  <a:srgbClr val="94A3B8"/>
                </a:solidFill>
                <a:latin typeface="Prompt-Light"/>
              </a:rPr>
              <a:t>DateTimeField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133088" y="3913632"/>
            <a:ext cx="411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</a:p>
        </p:txBody>
      </p:sp>
      <p:sp>
        <p:nvSpPr>
          <p:cNvPr id="92" name="TextBox 91"/>
          <p:cNvSpPr txBox="1"/>
          <p:nvPr/>
        </p:nvSpPr>
        <p:spPr>
          <a:xfrm>
            <a:off x="4526280" y="3913632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F8FAFC"/>
                </a:solidFill>
                <a:latin typeface="Prompt"/>
              </a:rPr>
              <a:t>last_login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040880" y="3913632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>
                <a:solidFill>
                  <a:srgbClr val="94A3B8"/>
                </a:solidFill>
                <a:latin typeface="Prompt-Light"/>
              </a:rPr>
              <a:t>DateTimeField (Nullable)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133088" y="4142232"/>
            <a:ext cx="411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FCD34D"/>
                </a:solidFill>
                <a:latin typeface="Prompt-Bold"/>
              </a:rPr>
              <a:t>M2M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526280" y="4142232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F8FAFC"/>
                </a:solidFill>
                <a:latin typeface="Prompt"/>
              </a:rPr>
              <a:t>groups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040880" y="4142232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>
                <a:solidFill>
                  <a:srgbClr val="94A3B8"/>
                </a:solidFill>
                <a:latin typeface="Prompt-Light"/>
              </a:rPr>
              <a:t>ManyToManyField(Group)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4023360" y="4937760"/>
            <a:ext cx="4114800" cy="12801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4023360" y="4937760"/>
            <a:ext cx="4114800" cy="36576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4023360" y="5120640"/>
            <a:ext cx="4114800" cy="1828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023360" y="4992624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Prompt-Bold"/>
              </a:rPr>
              <a:t>Order (คำสั่งซื้อสินค้า)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133088" y="5376672"/>
            <a:ext cx="411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34D399"/>
                </a:solidFill>
                <a:latin typeface="Prompt-Bold"/>
              </a:rPr>
              <a:t>PK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526280" y="5376672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F8FAFC"/>
                </a:solidFill>
                <a:latin typeface="Prompt"/>
              </a:rPr>
              <a:t>id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040880" y="5376672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>
                <a:solidFill>
                  <a:srgbClr val="94A3B8"/>
                </a:solidFill>
                <a:latin typeface="Prompt-Light"/>
              </a:rPr>
              <a:t>Integer (Primary Key)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133088" y="5605272"/>
            <a:ext cx="411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34D399"/>
                </a:solidFill>
                <a:latin typeface="Prompt-Bold"/>
              </a:rPr>
              <a:t>FK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526280" y="5605272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F8FAFC"/>
                </a:solidFill>
                <a:latin typeface="Prompt"/>
              </a:rPr>
              <a:t>customer_id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040880" y="5605272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>
                <a:solidFill>
                  <a:srgbClr val="94A3B8"/>
                </a:solidFill>
                <a:latin typeface="Prompt-Light"/>
              </a:rPr>
              <a:t>ForeignKey(User)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133088" y="5833872"/>
            <a:ext cx="411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</a:p>
        </p:txBody>
      </p:sp>
      <p:sp>
        <p:nvSpPr>
          <p:cNvPr id="108" name="TextBox 107"/>
          <p:cNvSpPr txBox="1"/>
          <p:nvPr/>
        </p:nvSpPr>
        <p:spPr>
          <a:xfrm>
            <a:off x="4526280" y="5833872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F8FAFC"/>
                </a:solidFill>
                <a:latin typeface="Prompt"/>
              </a:rPr>
              <a:t>total_amount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040880" y="5833872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>
                <a:solidFill>
                  <a:srgbClr val="94A3B8"/>
                </a:solidFill>
                <a:latin typeface="Prompt-Light"/>
              </a:rPr>
              <a:t>DecimalField(10,2)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133088" y="6062472"/>
            <a:ext cx="411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</a:p>
        </p:txBody>
      </p:sp>
      <p:sp>
        <p:nvSpPr>
          <p:cNvPr id="111" name="TextBox 110"/>
          <p:cNvSpPr txBox="1"/>
          <p:nvPr/>
        </p:nvSpPr>
        <p:spPr>
          <a:xfrm>
            <a:off x="4526280" y="6062472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F8FAFC"/>
                </a:solidFill>
                <a:latin typeface="Prompt"/>
              </a:rPr>
              <a:t>status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040880" y="6062472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>
                <a:solidFill>
                  <a:srgbClr val="94A3B8"/>
                </a:solidFill>
                <a:latin typeface="Prompt-Light"/>
              </a:rPr>
              <a:t>CharField ('paid',...)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8778240" y="1645920"/>
            <a:ext cx="2926080" cy="192024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ounded Rectangle 113"/>
          <p:cNvSpPr/>
          <p:nvPr/>
        </p:nvSpPr>
        <p:spPr>
          <a:xfrm>
            <a:off x="8778240" y="1645920"/>
            <a:ext cx="2926080" cy="36576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8778240" y="1828800"/>
            <a:ext cx="2926080" cy="182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778240" y="1700784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Prompt-Bold"/>
              </a:rPr>
              <a:t>Group (Django Auth)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887968" y="2084832"/>
            <a:ext cx="411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FCD34D"/>
                </a:solidFill>
                <a:latin typeface="Prompt-Bold"/>
              </a:rPr>
              <a:t>PK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281160" y="2084832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F8FAFC"/>
                </a:solidFill>
                <a:latin typeface="Prompt"/>
              </a:rPr>
              <a:t>id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0607040" y="2084832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>
                <a:solidFill>
                  <a:srgbClr val="94A3B8"/>
                </a:solidFill>
                <a:latin typeface="Prompt-Light"/>
              </a:rPr>
              <a:t>Integer (Auto)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887968" y="2313432"/>
            <a:ext cx="411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</a:p>
        </p:txBody>
      </p:sp>
      <p:sp>
        <p:nvSpPr>
          <p:cNvPr id="121" name="TextBox 120"/>
          <p:cNvSpPr txBox="1"/>
          <p:nvPr/>
        </p:nvSpPr>
        <p:spPr>
          <a:xfrm>
            <a:off x="9281160" y="2313432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F8FAFC"/>
                </a:solidFill>
                <a:latin typeface="Prompt"/>
              </a:rPr>
              <a:t>name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607040" y="2313432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>
                <a:solidFill>
                  <a:srgbClr val="94A3B8"/>
                </a:solidFill>
                <a:latin typeface="Prompt-Light"/>
              </a:rPr>
              <a:t>CharField ('Manager'|...)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887968" y="2542032"/>
            <a:ext cx="411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FCD34D"/>
                </a:solidFill>
                <a:latin typeface="Prompt-Bold"/>
              </a:rPr>
              <a:t>M2M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9281160" y="2542032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F8FAFC"/>
                </a:solidFill>
                <a:latin typeface="Prompt"/>
              </a:rPr>
              <a:t>permissions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0607040" y="2542032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>
                <a:solidFill>
                  <a:srgbClr val="94A3B8"/>
                </a:solidFill>
                <a:latin typeface="Prompt-Light"/>
              </a:rPr>
              <a:t>ManyToManyField(Perm)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8778240" y="3931920"/>
            <a:ext cx="2926080" cy="192024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ounded Rectangle 126"/>
          <p:cNvSpPr/>
          <p:nvPr/>
        </p:nvSpPr>
        <p:spPr>
          <a:xfrm>
            <a:off x="8778240" y="3931920"/>
            <a:ext cx="2926080" cy="36576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8778240" y="4114800"/>
            <a:ext cx="2926080" cy="182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8778240" y="3986784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Prompt-Bold"/>
              </a:rPr>
              <a:t>Permission (Django Auth)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887968" y="4370832"/>
            <a:ext cx="411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FCD34D"/>
                </a:solidFill>
                <a:latin typeface="Prompt-Bold"/>
              </a:rPr>
              <a:t>PK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9281160" y="4370832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F8FAFC"/>
                </a:solidFill>
                <a:latin typeface="Prompt"/>
              </a:rPr>
              <a:t>id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0607040" y="4370832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>
                <a:solidFill>
                  <a:srgbClr val="94A3B8"/>
                </a:solidFill>
                <a:latin typeface="Prompt-Light"/>
              </a:rPr>
              <a:t>Integer (Auto)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887968" y="4599432"/>
            <a:ext cx="411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</a:p>
        </p:txBody>
      </p:sp>
      <p:sp>
        <p:nvSpPr>
          <p:cNvPr id="134" name="TextBox 133"/>
          <p:cNvSpPr txBox="1"/>
          <p:nvPr/>
        </p:nvSpPr>
        <p:spPr>
          <a:xfrm>
            <a:off x="9281160" y="4599432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F8FAFC"/>
                </a:solidFill>
                <a:latin typeface="Prompt"/>
              </a:rPr>
              <a:t>name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0607040" y="4599432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>
                <a:solidFill>
                  <a:srgbClr val="94A3B8"/>
                </a:solidFill>
                <a:latin typeface="Prompt-Light"/>
              </a:rPr>
              <a:t>CharField (Title)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887968" y="4828032"/>
            <a:ext cx="411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</a:p>
        </p:txBody>
      </p:sp>
      <p:sp>
        <p:nvSpPr>
          <p:cNvPr id="137" name="TextBox 136"/>
          <p:cNvSpPr txBox="1"/>
          <p:nvPr/>
        </p:nvSpPr>
        <p:spPr>
          <a:xfrm>
            <a:off x="9281160" y="4828032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F8FAFC"/>
                </a:solidFill>
                <a:latin typeface="Prompt"/>
              </a:rPr>
              <a:t>codename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0607040" y="4828032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>
                <a:solidFill>
                  <a:srgbClr val="94A3B8"/>
                </a:solidFill>
                <a:latin typeface="Prompt-Light"/>
              </a:rPr>
              <a:t>CharField (can_add...)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8887968" y="5056632"/>
            <a:ext cx="411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Prompt-Bold"/>
              </a:rPr>
              <a:t>FK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9281160" y="5056632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F8FAFC"/>
                </a:solidFill>
                <a:latin typeface="Prompt"/>
              </a:rPr>
              <a:t>content_type_id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0607040" y="5056632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>
                <a:solidFill>
                  <a:srgbClr val="94A3B8"/>
                </a:solidFill>
                <a:latin typeface="Prompt-Light"/>
              </a:rPr>
              <a:t>ForeignKey(Type)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3456432" y="2377440"/>
            <a:ext cx="502920" cy="274320"/>
          </a:xfrm>
          <a:prstGeom prst="roundRect">
            <a:avLst>
              <a:gd name="adj" fmla="val 40000"/>
            </a:avLst>
          </a:prstGeom>
          <a:solidFill>
            <a:srgbClr val="141B2D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3456432" y="2414016"/>
            <a:ext cx="502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06B6D4"/>
                </a:solidFill>
                <a:latin typeface="Prompt-Bold"/>
              </a:rPr>
              <a:t>1 : 1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3456432" y="4297680"/>
            <a:ext cx="502920" cy="274320"/>
          </a:xfrm>
          <a:prstGeom prst="roundRect">
            <a:avLst>
              <a:gd name="adj" fmla="val 40000"/>
            </a:avLst>
          </a:prstGeom>
          <a:solidFill>
            <a:srgbClr val="141B2D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3456432" y="4334256"/>
            <a:ext cx="502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06B6D4"/>
                </a:solidFill>
                <a:latin typeface="Prompt-Bold"/>
              </a:rPr>
              <a:t>1 : N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5852160" y="4709160"/>
            <a:ext cx="502920" cy="274320"/>
          </a:xfrm>
          <a:prstGeom prst="roundRect">
            <a:avLst>
              <a:gd name="adj" fmla="val 40000"/>
            </a:avLst>
          </a:prstGeom>
          <a:solidFill>
            <a:srgbClr val="141B2D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5852160" y="4745736"/>
            <a:ext cx="502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0B981"/>
                </a:solidFill>
                <a:latin typeface="Prompt-Bold"/>
              </a:rPr>
              <a:t>1 : N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8211312" y="2377440"/>
            <a:ext cx="502920" cy="274320"/>
          </a:xfrm>
          <a:prstGeom prst="roundRect">
            <a:avLst>
              <a:gd name="adj" fmla="val 40000"/>
            </a:avLst>
          </a:prstGeom>
          <a:solidFill>
            <a:srgbClr val="141B2D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8211312" y="2414016"/>
            <a:ext cx="502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59E0B"/>
                </a:solidFill>
                <a:latin typeface="Prompt-Bold"/>
              </a:rPr>
              <a:t>N : M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9966960" y="3611880"/>
            <a:ext cx="502920" cy="274320"/>
          </a:xfrm>
          <a:prstGeom prst="roundRect">
            <a:avLst>
              <a:gd name="adj" fmla="val 40000"/>
            </a:avLst>
          </a:prstGeom>
          <a:solidFill>
            <a:srgbClr val="141B2D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9966960" y="3648456"/>
            <a:ext cx="502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59E0B"/>
                </a:solidFill>
                <a:latin typeface="Prompt-Bold"/>
              </a:rPr>
              <a:t>N : M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114800" y="6492240"/>
            <a:ext cx="3959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64748B"/>
                </a:solidFill>
                <a:latin typeface="Prompt-Light"/>
              </a:rPr>
              <a:t>— สไลด์ที่ 3 จาก 9 —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7772400" y="6492240"/>
            <a:ext cx="3959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64748B"/>
                </a:solidFill>
                <a:latin typeface="Prompt-Light"/>
              </a:rPr>
              <a:t>นายธรรมธัช รูปไธสง  ·  มรภ.กำแพงเพชร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65526" cy="54864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238" y="0"/>
            <a:ext cx="3065526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4476" y="0"/>
            <a:ext cx="3065526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1714" y="0"/>
            <a:ext cx="3065526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4864"/>
            <a:ext cx="12188952" cy="438912"/>
          </a:xfrm>
          <a:prstGeom prst="rect">
            <a:avLst/>
          </a:prstGeom>
          <a:solidFill>
            <a:srgbClr val="0E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93776"/>
            <a:ext cx="12188952" cy="12700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  <a:latin typeface="Prompt-Bold"/>
              </a:rPr>
              <a:t>THAMMATHAD SHOP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128016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Prompt-Light"/>
              </a:rPr>
              <a:t>·  Registration Lifecycle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28016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Prompt"/>
              </a:rPr>
              <a:t>Django 6.0.6  ·  Apple Liquid Glass UI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658368"/>
            <a:ext cx="1097280" cy="329184"/>
          </a:xfrm>
          <a:prstGeom prst="roundRect">
            <a:avLst>
              <a:gd name="adj" fmla="val 40000"/>
            </a:avLst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9494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Prompt-Bold"/>
              </a:rPr>
              <a:t>ส่วนที่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667512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Prompt-Bold"/>
              </a:rPr>
              <a:t>แผนผังการทำงานของระบบ — 1. ลำดับขั้นตอนการสมัครสมาชิก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078992"/>
            <a:ext cx="11274552" cy="12700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18872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Prompt"/>
              </a:rPr>
              <a:t>ลำดับการทำงานตั้งแต่ผู้ใช้กรอกข้อมูล ตรวจสอบความถูกต้องแบบ Real-time จนถึงการผูกสิทธิ์ RBAC และเข้าสู่ระบบอัตโนมัติ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1600200"/>
            <a:ext cx="11274552" cy="4389120"/>
          </a:xfrm>
          <a:prstGeom prst="roundRect">
            <a:avLst>
              <a:gd name="adj" fmla="val 8000"/>
            </a:avLst>
          </a:prstGeom>
          <a:solidFill>
            <a:srgbClr val="0E1526"/>
          </a:solidFill>
          <a:ln w="12700">
            <a:solidFill>
              <a:srgbClr val="1E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2377440"/>
            <a:ext cx="1783080" cy="21945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2377440"/>
            <a:ext cx="1783080" cy="365760"/>
          </a:xfrm>
          <a:prstGeom prst="roundRect">
            <a:avLst>
              <a:gd name="adj" fmla="val 1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2560320"/>
            <a:ext cx="1783080" cy="1828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2450592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Prompt-Bold"/>
              </a:rPr>
              <a:t>1. กรอกแบบฟอร์ม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2880360"/>
            <a:ext cx="156362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Prompt"/>
              </a:rPr>
              <a:t>• ชื่อ / นามสกุล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3291840"/>
            <a:ext cx="156362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Prompt"/>
              </a:rPr>
              <a:t>• อีเมล และ เบอร์โทร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3703320"/>
            <a:ext cx="156362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Prompt"/>
              </a:rPr>
              <a:t>• รหัสผ่าน 2 ช่อง (ตรวจตรงกัน)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9464" y="324612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38BDF8"/>
                </a:solidFill>
                <a:latin typeface="Prompt-Bold"/>
              </a:rPr>
              <a:t>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07208" y="2377440"/>
            <a:ext cx="1783080" cy="21945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807208" y="2377440"/>
            <a:ext cx="1783080" cy="365760"/>
          </a:xfrm>
          <a:prstGeom prst="roundRect">
            <a:avLst>
              <a:gd name="adj" fmla="val 1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807208" y="2560320"/>
            <a:ext cx="1783080" cy="1828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07208" y="2450592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Prompt-Bold"/>
              </a:rPr>
              <a:t>2. Real-time Meter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16936" y="2880360"/>
            <a:ext cx="156362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Prompt"/>
              </a:rPr>
              <a:t>• Strength Meter วัดความปลอดภัย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16936" y="3291840"/>
            <a:ext cx="156362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Prompt"/>
              </a:rPr>
              <a:t>• ตรวจสอบเงื่อนไขความยาว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16936" y="3703320"/>
            <a:ext cx="156362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Prompt"/>
              </a:rPr>
              <a:t>• Show / Hide Toggle Eye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45152" y="324612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6B6D4"/>
                </a:solidFill>
                <a:latin typeface="Prompt-Bold"/>
              </a:rPr>
              <a:t>➔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882896" y="2377440"/>
            <a:ext cx="1783080" cy="21945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882896" y="2377440"/>
            <a:ext cx="1783080" cy="36576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882896" y="2560320"/>
            <a:ext cx="1783080" cy="182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82896" y="2450592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Prompt-Bold"/>
              </a:rPr>
              <a:t>3. Form.is_valid()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92624" y="2880360"/>
            <a:ext cx="156362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Prompt"/>
              </a:rPr>
              <a:t>• clean_email() ตรวจซ้ำในระบบ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92624" y="3291840"/>
            <a:ext cx="156362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Prompt"/>
              </a:rPr>
              <a:t>• ตรวจเบอร์โทรไทย 10 หลัก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92624" y="3703320"/>
            <a:ext cx="156362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Prompt"/>
              </a:rPr>
              <a:t>• clean() รหัสผ่านตรงกัน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324612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59E0B"/>
                </a:solidFill>
                <a:latin typeface="Prompt-Bold"/>
              </a:rPr>
              <a:t>➔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958584" y="2377440"/>
            <a:ext cx="1783080" cy="21945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958584" y="2377440"/>
            <a:ext cx="1783080" cy="365760"/>
          </a:xfrm>
          <a:prstGeom prst="roundRect">
            <a:avLst>
              <a:gd name="adj" fmla="val 1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958584" y="2560320"/>
            <a:ext cx="1783080" cy="1828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58584" y="2450592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Prompt-Bold"/>
              </a:rPr>
              <a:t>4. บันทึกบัญชี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68312" y="2880360"/>
            <a:ext cx="156362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Prompt"/>
              </a:rPr>
              <a:t>• User.create_user()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68312" y="3291840"/>
            <a:ext cx="156362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Prompt"/>
              </a:rPr>
              <a:t>• บันทึกรหัสผ่านด้วย PBKDF2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68312" y="3703320"/>
            <a:ext cx="156362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Prompt"/>
              </a:rPr>
              <a:t>• CustomerProfile.create()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96528" y="324612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8B5CF6"/>
                </a:solidFill>
                <a:latin typeface="Prompt-Bold"/>
              </a:rPr>
              <a:t>➔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034272" y="2377440"/>
            <a:ext cx="1783080" cy="21945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9034272" y="2377440"/>
            <a:ext cx="1783080" cy="36576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034272" y="2560320"/>
            <a:ext cx="1783080" cy="1828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34272" y="2450592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Prompt-Bold"/>
              </a:rPr>
              <a:t>5. ผูกสิทธิ์ RBAC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4000" y="2880360"/>
            <a:ext cx="156362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Prompt"/>
              </a:rPr>
              <a:t>• ค้นหา Group 'Member'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4000" y="3291840"/>
            <a:ext cx="156362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Prompt"/>
              </a:rPr>
              <a:t>• ผูกเข้ากลุ่มอัตโนมัติ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4000" y="3703320"/>
            <a:ext cx="156362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Prompt"/>
              </a:rPr>
              <a:t>• ตั้ง is_staff = False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875520" y="2651760"/>
            <a:ext cx="1554480" cy="1554480"/>
          </a:xfrm>
          <a:prstGeom prst="roundRect">
            <a:avLst>
              <a:gd name="adj" fmla="val 15000"/>
            </a:avLst>
          </a:prstGeom>
          <a:solidFill>
            <a:srgbClr val="052819"/>
          </a:solidFill>
          <a:ln w="228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875520" y="278892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4D399"/>
                </a:solidFill>
                <a:latin typeface="Prompt-Bold"/>
              </a:rPr>
              <a:t>[ สำเร็จ ]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875520" y="315468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Prompt-Bold"/>
              </a:rPr>
              <a:t>login() อัตโนมัติ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75520" y="342900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94A3B8"/>
                </a:solidFill>
                <a:latin typeface="Prompt"/>
              </a:rPr>
              <a:t>Redirect ไปหน้าแรก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31520" y="4983480"/>
            <a:ext cx="10725912" cy="640080"/>
          </a:xfrm>
          <a:prstGeom prst="roundRect">
            <a:avLst>
              <a:gd name="adj" fmla="val 8000"/>
            </a:avLst>
          </a:prstGeom>
          <a:solidFill>
            <a:srgbClr val="230C12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14400" y="5074920"/>
            <a:ext cx="10332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F87171"/>
                </a:solidFill>
                <a:latin typeface="Prompt"/>
              </a:rPr>
              <a:t>หมายเหตุ: กรณีข้อมูลไม่ถูกต้อง (Form Invalid เช่น อีเมลซ้ำ, รหัสสั้นกว่า 6 ตัว, เบอร์โทรไม่ครบ 10 หลัก) — ระบบจะส่ง Error Message แจ้งเตือนใต้ช่องกรอกทันที และไม่บันทึกข้อมูลลงฐานข้อมูลเด็ดขาด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114800" y="6492240"/>
            <a:ext cx="3959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64748B"/>
                </a:solidFill>
                <a:latin typeface="Prompt-Light"/>
              </a:rPr>
              <a:t>— สไลด์ที่ 4 จาก 9 —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772400" y="6492240"/>
            <a:ext cx="3959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64748B"/>
                </a:solidFill>
                <a:latin typeface="Prompt-Light"/>
              </a:rPr>
              <a:t>นายธรรมธัช รูปไธสง  ·  มรภ.กำแพงเพชร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65526" cy="54864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238" y="0"/>
            <a:ext cx="3065526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4476" y="0"/>
            <a:ext cx="3065526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1714" y="0"/>
            <a:ext cx="3065526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4864"/>
            <a:ext cx="12188952" cy="438912"/>
          </a:xfrm>
          <a:prstGeom prst="rect">
            <a:avLst/>
          </a:prstGeom>
          <a:solidFill>
            <a:srgbClr val="0E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93776"/>
            <a:ext cx="12188952" cy="12700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  <a:latin typeface="Prompt-Bold"/>
              </a:rPr>
              <a:t>THAMMATHAD SHOP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128016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Prompt-Light"/>
              </a:rPr>
              <a:t>·  Session &amp; Access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28016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Prompt"/>
              </a:rPr>
              <a:t>Django 6.0.6  ·  Apple Liquid Glass UI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658368"/>
            <a:ext cx="1097280" cy="329184"/>
          </a:xfrm>
          <a:prstGeom prst="roundRect">
            <a:avLst>
              <a:gd name="adj" fmla="val 40000"/>
            </a:avLst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9494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Prompt-Bold"/>
              </a:rPr>
              <a:t>ส่วนที่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667512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Prompt-Bold"/>
              </a:rPr>
              <a:t>แผนผังการทำงานของระบบ — 2. Login Session &amp; 3. Protected Pages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078992"/>
            <a:ext cx="11274552" cy="12700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18872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38BDF8"/>
                </a:solidFill>
                <a:latin typeface="Prompt-Bold"/>
              </a:rPr>
              <a:t>2. การเข้าสู่ระบบ &amp; ควบคุมอายุเซสชัน (Login &amp; Remember Me Session)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1508760"/>
            <a:ext cx="11274552" cy="2194560"/>
          </a:xfrm>
          <a:prstGeom prst="roundRect">
            <a:avLst>
              <a:gd name="adj" fmla="val 8000"/>
            </a:avLst>
          </a:prstGeom>
          <a:solidFill>
            <a:srgbClr val="0E1526"/>
          </a:solidFill>
          <a:ln w="12700">
            <a:solidFill>
              <a:srgbClr val="1E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1691640"/>
            <a:ext cx="2011680" cy="17373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182880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38BDF8"/>
                </a:solidFill>
                <a:latin typeface="Prompt-Bold"/>
              </a:rPr>
              <a:t>1. กรอกฟอร์ม Login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2194560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F8FAFC"/>
                </a:solidFill>
                <a:latin typeface="Prompt"/>
              </a:rPr>
              <a:t>อีเมล + รหัสผ่าน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468880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Prompt-Light"/>
              </a:rPr>
              <a:t>POST /account/login/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233172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284C7"/>
                </a:solidFill>
                <a:latin typeface="Prompt-Bold"/>
              </a:rPr>
              <a:t>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108960" y="1691640"/>
            <a:ext cx="2103120" cy="17373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08960" y="182880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8B5CF6"/>
                </a:solidFill>
                <a:latin typeface="Prompt-Bold"/>
              </a:rPr>
              <a:t>2. authenticate()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2194560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F8FAFC"/>
                </a:solidFill>
                <a:latin typeface="Prompt"/>
              </a:rPr>
              <a:t>ตรวจ Password Hash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8960" y="2468880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Prompt-Light"/>
              </a:rPr>
              <a:t>PBKDF2 Algorithm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233172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8B5CF6"/>
                </a:solidFill>
                <a:latin typeface="Prompt-Bold"/>
              </a:rPr>
              <a:t>➔</a:t>
            </a:r>
          </a:p>
        </p:txBody>
      </p:sp>
      <p:sp>
        <p:nvSpPr>
          <p:cNvPr id="27" name="Diamond 26"/>
          <p:cNvSpPr/>
          <p:nvPr/>
        </p:nvSpPr>
        <p:spPr>
          <a:xfrm>
            <a:off x="5577840" y="1645920"/>
            <a:ext cx="2011680" cy="1737360"/>
          </a:xfrm>
          <a:prstGeom prst="diamond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77840" y="228600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CD34D"/>
                </a:solidFill>
                <a:latin typeface="Prompt-Bold"/>
              </a:rPr>
              <a:t>ติ๊ก 'จดจำฉัน'?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1645920"/>
            <a:ext cx="2286000" cy="7772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0" y="171907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34D399"/>
                </a:solidFill>
                <a:latin typeface="Prompt-Bold"/>
              </a:rPr>
              <a:t>Yes: set_expiry(1209600)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1993392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F8FAFC"/>
                </a:solidFill>
                <a:latin typeface="Prompt"/>
              </a:rPr>
              <a:t>คงสถานะล็อกอินนาน 14 วัน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20" y="2606040"/>
            <a:ext cx="2286000" cy="7772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20" y="267919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87171"/>
                </a:solidFill>
                <a:latin typeface="Prompt-Bold"/>
              </a:rPr>
              <a:t>No: set_expiry(0)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0" y="2953512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F8FAFC"/>
                </a:solidFill>
                <a:latin typeface="Prompt"/>
              </a:rPr>
              <a:t>ปิดเบราว์เซอร์ล้างเซสชันทันที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607040" y="1874519"/>
            <a:ext cx="868680" cy="1280160"/>
          </a:xfrm>
          <a:prstGeom prst="roundRect">
            <a:avLst>
              <a:gd name="adj" fmla="val 10000"/>
            </a:avLst>
          </a:prstGeom>
          <a:solidFill>
            <a:srgbClr val="05281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607040" y="219456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34D399"/>
                </a:solidFill>
                <a:latin typeface="Prompt-Bold"/>
              </a:rPr>
              <a:t>login()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07040" y="2468880"/>
            <a:ext cx="868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F8FAFC"/>
                </a:solidFill>
                <a:latin typeface="Prompt"/>
              </a:rPr>
              <a:t>Redirect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384048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87171"/>
                </a:solidFill>
                <a:latin typeface="Prompt-Bold"/>
              </a:rPr>
              <a:t>3. การจำกัดสิทธิ์หน้าเว็บ &amp; ข้อผิดพลาด 403 (Protected Pages &amp; 403 Forbidden)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160520"/>
            <a:ext cx="11274552" cy="2194560"/>
          </a:xfrm>
          <a:prstGeom prst="roundRect">
            <a:avLst>
              <a:gd name="adj" fmla="val 8000"/>
            </a:avLst>
          </a:prstGeom>
          <a:solidFill>
            <a:srgbClr val="0E1526"/>
          </a:solidFill>
          <a:ln w="12700">
            <a:solidFill>
              <a:srgbClr val="1E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31520" y="4343400"/>
            <a:ext cx="2011680" cy="17373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448056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38BDF8"/>
                </a:solidFill>
                <a:latin typeface="Prompt-Bold"/>
              </a:rPr>
              <a:t>1. ร้องขอหน้า Protected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4846320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F8FAFC"/>
                </a:solidFill>
                <a:latin typeface="Prompt"/>
              </a:rPr>
              <a:t>เช่น /staff/users/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5120640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Prompt-Light"/>
              </a:rPr>
              <a:t>หรือหน้าจัดการของ Staff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43200" y="498348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284C7"/>
                </a:solidFill>
                <a:latin typeface="Prompt-Bold"/>
              </a:rPr>
              <a:t>➔</a:t>
            </a:r>
          </a:p>
        </p:txBody>
      </p:sp>
      <p:sp>
        <p:nvSpPr>
          <p:cNvPr id="45" name="Diamond 44"/>
          <p:cNvSpPr/>
          <p:nvPr/>
        </p:nvSpPr>
        <p:spPr>
          <a:xfrm>
            <a:off x="3108960" y="4343400"/>
            <a:ext cx="2011680" cy="1737360"/>
          </a:xfrm>
          <a:prstGeom prst="diamond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108960" y="498348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38BDF8"/>
                </a:solidFill>
                <a:latin typeface="Prompt-Bold"/>
              </a:rPr>
              <a:t>ล็อกอินแล้ว?</a:t>
            </a:r>
          </a:p>
        </p:txBody>
      </p:sp>
      <p:sp>
        <p:nvSpPr>
          <p:cNvPr id="47" name="Diamond 46"/>
          <p:cNvSpPr/>
          <p:nvPr/>
        </p:nvSpPr>
        <p:spPr>
          <a:xfrm>
            <a:off x="5852160" y="4343400"/>
            <a:ext cx="2194560" cy="1737360"/>
          </a:xfrm>
          <a:prstGeom prst="diamond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852160" y="489204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CD34D"/>
                </a:solidFill>
                <a:latin typeface="Prompt-Bold"/>
              </a:rPr>
              <a:t>เป็น Manager หรือ
Superuser?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20640" y="49834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34D399"/>
                </a:solidFill>
                <a:latin typeface="Prompt-Bold"/>
              </a:rPr>
              <a:t>Yes ➔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412480" y="4343400"/>
            <a:ext cx="2560320" cy="777240"/>
          </a:xfrm>
          <a:prstGeom prst="roundRect">
            <a:avLst>
              <a:gd name="adj" fmla="val 8000"/>
            </a:avLst>
          </a:prstGeom>
          <a:solidFill>
            <a:srgbClr val="230C12"/>
          </a:solidFill>
          <a:ln w="1778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12480" y="4407408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87171"/>
                </a:solidFill>
                <a:latin typeface="Prompt-Bold"/>
              </a:rPr>
              <a:t>302 Redirect → staff_login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12480" y="4681728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F8FAFC"/>
                </a:solidFill>
                <a:latin typeface="Prompt"/>
              </a:rPr>
              <a:t>กรณีผู้ใช้ยังไม่ได้เข้าสู่ระบบ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412480" y="5257800"/>
            <a:ext cx="2560320" cy="777240"/>
          </a:xfrm>
          <a:prstGeom prst="roundRect">
            <a:avLst>
              <a:gd name="adj" fmla="val 8000"/>
            </a:avLst>
          </a:prstGeom>
          <a:solidFill>
            <a:srgbClr val="230C12"/>
          </a:solidFill>
          <a:ln w="1778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412480" y="5321808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87171"/>
                </a:solidFill>
                <a:latin typeface="Prompt-Bold"/>
              </a:rPr>
              <a:t>403: raise PermissionDenied()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12480" y="5596128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F8FAFC"/>
                </a:solidFill>
                <a:latin typeface="Prompt"/>
              </a:rPr>
              <a:t>แสดง 403.html (Apple Shield)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14800" y="6492240"/>
            <a:ext cx="3959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64748B"/>
                </a:solidFill>
                <a:latin typeface="Prompt-Light"/>
              </a:rPr>
              <a:t>— สไลด์ที่ 5 จาก 9 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72400" y="6492240"/>
            <a:ext cx="3959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64748B"/>
                </a:solidFill>
                <a:latin typeface="Prompt-Light"/>
              </a:rPr>
              <a:t>นายธรรมธัช รูปไธสง  ·  มรภ.กำแพงเพชร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65526" cy="54864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238" y="0"/>
            <a:ext cx="3065526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4476" y="0"/>
            <a:ext cx="3065526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1714" y="0"/>
            <a:ext cx="3065526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4864"/>
            <a:ext cx="12188952" cy="438912"/>
          </a:xfrm>
          <a:prstGeom prst="rect">
            <a:avLst/>
          </a:prstGeom>
          <a:solidFill>
            <a:srgbClr val="0E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93776"/>
            <a:ext cx="12188952" cy="12700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  <a:latin typeface="Prompt-Bold"/>
              </a:rPr>
              <a:t>THAMMATHAD SHOP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128016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Prompt-Light"/>
              </a:rPr>
              <a:t>·  Code Implementation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28016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Prompt"/>
              </a:rPr>
              <a:t>Django 6.0.6  ·  Apple Liquid Glass UI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658368"/>
            <a:ext cx="1097280" cy="329184"/>
          </a:xfrm>
          <a:prstGeom prst="roundRect">
            <a:avLst>
              <a:gd name="adj" fmla="val 40000"/>
            </a:avLst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9494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Prompt-Bold"/>
              </a:rPr>
              <a:t>ส่วนที่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667512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Prompt-Bold"/>
              </a:rPr>
              <a:t>สาธิตขั้นตอนวิธีการสร้างระบบ (Step-by-Step Code Tutorial)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078992"/>
            <a:ext cx="11274552" cy="12700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1887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  <a:latin typeface="Prompt-Bold"/>
              </a:rPr>
              <a:t>ขั้นตอนที่ 1: ตรวจสอบความถูกต้องข้อมูลฟอร์มสมัครสมาชิก (forms.py)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1508760"/>
            <a:ext cx="5440680" cy="4754880"/>
          </a:xfrm>
          <a:prstGeom prst="roundRect">
            <a:avLst>
              <a:gd name="adj" fmla="val 8000"/>
            </a:avLst>
          </a:prstGeom>
          <a:solidFill>
            <a:srgbClr val="0D1322"/>
          </a:solidFill>
          <a:ln w="12700">
            <a:solidFill>
              <a:srgbClr val="2A3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" y="1508760"/>
            <a:ext cx="5440680" cy="347472"/>
          </a:xfrm>
          <a:prstGeom prst="roundRect">
            <a:avLst>
              <a:gd name="adj" fmla="val 8000"/>
            </a:avLst>
          </a:prstGeom>
          <a:solidFill>
            <a:srgbClr val="12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1691640"/>
            <a:ext cx="5440680" cy="164592"/>
          </a:xfrm>
          <a:prstGeom prst="rect">
            <a:avLst/>
          </a:prstGeom>
          <a:solidFill>
            <a:srgbClr val="12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94360" y="1618488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58952" y="1618488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23544" y="1618488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1581912"/>
            <a:ext cx="4709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Prompt-SemiBold"/>
              </a:rPr>
              <a:t>PYTHON  /  myapp/forms.py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1920240"/>
            <a:ext cx="5111496" cy="4251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50">
                <a:solidFill>
                  <a:srgbClr val="E2E8F0"/>
                </a:solidFill>
                <a:latin typeface="Consolas"/>
              </a:defRPr>
            </a:pPr>
            <a:r>
              <a:t>class CustomerRegistrationForm(forms.Form):</a:t>
            </a:r>
            <a:br/>
            <a:r>
              <a:t>    email     = forms.EmailField(label='อีเมล')</a:t>
            </a:r>
            <a:br/>
            <a:r>
              <a:t>    phone     = forms.CharField(max_length=20)</a:t>
            </a:r>
            <a:br/>
            <a:r>
              <a:t>    password1 = forms.CharField(min_length=6)</a:t>
            </a:r>
            <a:br/>
            <a:r>
              <a:t>    password2 = forms.CharField(min_length=6)</a:t>
            </a:r>
            <a:br/>
            <a:br/>
            <a:r>
              <a:t>    def clean_email(self):</a:t>
            </a:r>
            <a:br/>
            <a:r>
              <a:t>        email = self.cleaned_data.get('email').lower()</a:t>
            </a:r>
            <a:br/>
            <a:r>
              <a:t>        if User.objects.filter(username__iexact=email).exists():</a:t>
            </a:r>
            <a:br/>
            <a:r>
              <a:t>            raise ValidationError('อีเมลนี้ถูกใช้งานแล้ว')</a:t>
            </a:r>
            <a:br/>
            <a:r>
              <a:t>        return email</a:t>
            </a:r>
            <a:br/>
            <a:br/>
            <a:r>
              <a:t>    def clean(self):</a:t>
            </a:r>
            <a:br/>
            <a:r>
              <a:t>        data = super().clean()</a:t>
            </a:r>
            <a:br/>
            <a:r>
              <a:t>        if data.get('password1') != data.get('password2'):</a:t>
            </a:r>
            <a:br/>
            <a:r>
              <a:t>            raise ValidationError('รหัสผ่านสองช่องไม่ตรงกัน')</a:t>
            </a:r>
            <a:br/>
            <a:r>
              <a:t>        return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1072" y="11887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8B5CF6"/>
                </a:solidFill>
                <a:latin typeface="Prompt-Bold"/>
              </a:rPr>
              <a:t>ขั้นตอนที่ 2: ระบบเข้าสู่ระบบ &amp; ควบคุมอายุเซสชัน (views.py)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91072" y="1508760"/>
            <a:ext cx="5440680" cy="4754880"/>
          </a:xfrm>
          <a:prstGeom prst="roundRect">
            <a:avLst>
              <a:gd name="adj" fmla="val 8000"/>
            </a:avLst>
          </a:prstGeom>
          <a:solidFill>
            <a:srgbClr val="0D1322"/>
          </a:solidFill>
          <a:ln w="12700">
            <a:solidFill>
              <a:srgbClr val="2A3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91072" y="1508760"/>
            <a:ext cx="5440680" cy="347472"/>
          </a:xfrm>
          <a:prstGeom prst="roundRect">
            <a:avLst>
              <a:gd name="adj" fmla="val 8000"/>
            </a:avLst>
          </a:prstGeom>
          <a:solidFill>
            <a:srgbClr val="12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91072" y="1691640"/>
            <a:ext cx="5440680" cy="164592"/>
          </a:xfrm>
          <a:prstGeom prst="rect">
            <a:avLst/>
          </a:prstGeom>
          <a:solidFill>
            <a:srgbClr val="12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28232" y="1618488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592824" y="1618488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757416" y="1618488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76872" y="1581912"/>
            <a:ext cx="4709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Prompt-SemiBold"/>
              </a:rPr>
              <a:t>PYTHON  /  myapp/views.py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55664" y="1920240"/>
            <a:ext cx="5111496" cy="4251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50">
                <a:solidFill>
                  <a:srgbClr val="E2E8F0"/>
                </a:solidFill>
                <a:latin typeface="Consolas"/>
              </a:defRPr>
            </a:pPr>
            <a:r>
              <a:t>class CustomerLoginView(View):</a:t>
            </a:r>
            <a:br/>
            <a:r>
              <a:t>    def post(self, request):</a:t>
            </a:r>
            <a:br/>
            <a:r>
              <a:t>        form = CustomerLoginForm(request.POST)</a:t>
            </a:r>
            <a:br/>
            <a:r>
              <a:t>        if form.is_valid():</a:t>
            </a:r>
            <a:br/>
            <a:r>
              <a:t>            email = form.cleaned_data['email']</a:t>
            </a:r>
            <a:br/>
            <a:r>
              <a:t>            pwd   = form.cleaned_data['password']</a:t>
            </a:r>
            <a:br/>
            <a:r>
              <a:t>            user  = authenticate(request, username=email, password=pwd)</a:t>
            </a:r>
            <a:br/>
            <a:br/>
            <a:r>
              <a:t>            if user is not None:</a:t>
            </a:r>
            <a:br/>
            <a:r>
              <a:t>                login(request, user)</a:t>
            </a:r>
            <a:br/>
            <a:r>
              <a:t>                if form.cleaned_data.get('remember'):</a:t>
            </a:r>
            <a:br/>
            <a:r>
              <a:t>                    request.session.set_expiry(1209600)  # 14 วัน</a:t>
            </a:r>
            <a:br/>
            <a:r>
              <a:t>                else:</a:t>
            </a:r>
            <a:br/>
            <a:r>
              <a:t>                    request.session.set_expiry(0)        # ปิดเบราว์เซอร์ล้าง</a:t>
            </a:r>
            <a:br/>
            <a:br/>
            <a:r>
              <a:t>                messages.success(request, f'ยินดีต้อนรับคุณ {user.first_name}')</a:t>
            </a:r>
            <a:br/>
            <a:r>
              <a:t>                return redirect('shop')</a:t>
            </a:r>
            <a:br/>
            <a:r>
              <a:t>        return render(request, 'customer_login.html', {'form': form})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6492240"/>
            <a:ext cx="3959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64748B"/>
                </a:solidFill>
                <a:latin typeface="Prompt-Light"/>
              </a:rPr>
              <a:t>— สไลด์ที่ 6 จาก 9 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6492240"/>
            <a:ext cx="3959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64748B"/>
                </a:solidFill>
                <a:latin typeface="Prompt-Light"/>
              </a:rPr>
              <a:t>นายธรรมธัช รูปไธสง  ·  มรภ.กำแพงเพชร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65526" cy="54864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238" y="0"/>
            <a:ext cx="3065526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4476" y="0"/>
            <a:ext cx="3065526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1714" y="0"/>
            <a:ext cx="3065526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4864"/>
            <a:ext cx="12188952" cy="438912"/>
          </a:xfrm>
          <a:prstGeom prst="rect">
            <a:avLst/>
          </a:prstGeom>
          <a:solidFill>
            <a:srgbClr val="0E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93776"/>
            <a:ext cx="12188952" cy="12700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  <a:latin typeface="Prompt-Bold"/>
              </a:rPr>
              <a:t>THAMMATHAD SHOP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128016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Prompt-Light"/>
              </a:rPr>
              <a:t>·  Code Implementation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28016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Prompt"/>
              </a:rPr>
              <a:t>Django 6.0.6  ·  Apple Liquid Glass UI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658368"/>
            <a:ext cx="1097280" cy="329184"/>
          </a:xfrm>
          <a:prstGeom prst="roundRect">
            <a:avLst>
              <a:gd name="adj" fmla="val 40000"/>
            </a:avLst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9494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Prompt-Bold"/>
              </a:rPr>
              <a:t>ส่วนที่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667512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Prompt-Bold"/>
              </a:rPr>
              <a:t>สาธิตขั้นตอนวิธีการสร้างระบบ — RBAC Mixin &amp; Access Control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078992"/>
            <a:ext cx="11274552" cy="12700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18872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CD34D"/>
                </a:solidFill>
                <a:latin typeface="Prompt-Bold"/>
              </a:rPr>
              <a:t>ขั้นตอนที่ 3: การจำกัดสิทธิ์หน้าเว็บด้วย ManagerRequiredMixin และ Dispatch Hook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1508760"/>
            <a:ext cx="11274552" cy="4754880"/>
          </a:xfrm>
          <a:prstGeom prst="roundRect">
            <a:avLst>
              <a:gd name="adj" fmla="val 8000"/>
            </a:avLst>
          </a:prstGeom>
          <a:solidFill>
            <a:srgbClr val="0D1322"/>
          </a:solidFill>
          <a:ln w="12700">
            <a:solidFill>
              <a:srgbClr val="2A3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" y="1508760"/>
            <a:ext cx="11274552" cy="347472"/>
          </a:xfrm>
          <a:prstGeom prst="roundRect">
            <a:avLst>
              <a:gd name="adj" fmla="val 8000"/>
            </a:avLst>
          </a:prstGeom>
          <a:solidFill>
            <a:srgbClr val="12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1691640"/>
            <a:ext cx="11274552" cy="164592"/>
          </a:xfrm>
          <a:prstGeom prst="rect">
            <a:avLst/>
          </a:prstGeom>
          <a:solidFill>
            <a:srgbClr val="12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94360" y="1618488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58952" y="1618488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23544" y="1618488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1581912"/>
            <a:ext cx="1054303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Prompt-SemiBold"/>
              </a:rPr>
              <a:t>PYTHON  /  myapp/views.py — ManagerRequiredMixin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1947672"/>
            <a:ext cx="10908792" cy="42062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00">
                <a:solidFill>
                  <a:srgbClr val="E2E8F0"/>
                </a:solidFill>
                <a:latin typeface="Consolas"/>
              </a:defRPr>
            </a:pPr>
            <a:r>
              <a:t>class ManagerRequiredMixin:</a:t>
            </a:r>
            <a:br/>
            <a:r>
              <a:t>    """</a:t>
            </a:r>
            <a:br/>
            <a:r>
              <a:t>    Mixin ตรวจสอบสิทธิ์ระดับผู้จัดการ (Manager) ก่อนเข้าถึงหน้าจัดการสำคัญ</a:t>
            </a:r>
            <a:br/>
            <a:r>
              <a:t>    - ชั้นที่ 1: ตรวจสอบการยืนยันตัวตน (Authentication)</a:t>
            </a:r>
            <a:br/>
            <a:r>
              <a:t>    - ชั้นที่ 2: ตรวจสอบบทบาทในกลุ่ม Django Group 'Manager' หรือ is_superuser (Authorization)</a:t>
            </a:r>
            <a:br/>
            <a:r>
              <a:t>    """</a:t>
            </a:r>
            <a:br/>
            <a:r>
              <a:t>    def dispatch(self, request, *args, **kwargs):</a:t>
            </a:r>
            <a:br/>
            <a:r>
              <a:t>        # 1. ตรวจสอบการเข้าสู่ระบบ</a:t>
            </a:r>
            <a:br/>
            <a:r>
              <a:t>        if not request.user.is_authenticated:</a:t>
            </a:r>
            <a:br/>
            <a:r>
              <a:t>            messages.warning(request, 'กรุณาเข้าสู่ระบบเจ้าหน้าที่ก่อนดำเนินการ')</a:t>
            </a:r>
            <a:br/>
            <a:r>
              <a:t>            return redirect(f'{reverse("staff_login")}?next={request.path}')</a:t>
            </a:r>
            <a:br/>
            <a:br/>
            <a:r>
              <a:t>        # 2. ตรวจสอบสิทธิ์การเป็น Manager หรือ Superuser</a:t>
            </a:r>
            <a:br/>
            <a:r>
              <a:t>        is_manager = request.user.groups.filter(name='Manager').exists()</a:t>
            </a:r>
            <a:br/>
            <a:r>
              <a:t>        if not (is_manager or request.user.is_superuser):</a:t>
            </a:r>
            <a:br/>
            <a:r>
              <a:t>            # ส่ง HTTP 403 Forbidden Error -&gt; เรนเดอร์ 403.html (Apple Shield) ทันที</a:t>
            </a:r>
            <a:br/>
            <a:r>
              <a:t>            raise PermissionDenied('คุณไม่มีสิทธิ์เข้าถึงหน้าผู้จัดการนี้')</a:t>
            </a:r>
            <a:br/>
            <a:br/>
            <a:r>
              <a:t>        return super().dispatch(request, *args, **kwargs)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6492240"/>
            <a:ext cx="3959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64748B"/>
                </a:solidFill>
                <a:latin typeface="Prompt-Light"/>
              </a:rPr>
              <a:t>— สไลด์ที่ 7 จาก 9 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6492240"/>
            <a:ext cx="3959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64748B"/>
                </a:solidFill>
                <a:latin typeface="Prompt-Light"/>
              </a:rPr>
              <a:t>นายธรรมธัช รูปไธสง  ·  มรภ.กำแพงเพชร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65526" cy="54864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238" y="0"/>
            <a:ext cx="3065526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4476" y="0"/>
            <a:ext cx="3065526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1714" y="0"/>
            <a:ext cx="3065526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4864"/>
            <a:ext cx="12188952" cy="438912"/>
          </a:xfrm>
          <a:prstGeom prst="rect">
            <a:avLst/>
          </a:prstGeom>
          <a:solidFill>
            <a:srgbClr val="0E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93776"/>
            <a:ext cx="12188952" cy="12700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  <a:latin typeface="Prompt-Bold"/>
              </a:rPr>
              <a:t>THAMMATHAD SHOP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128016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Prompt-Light"/>
              </a:rPr>
              <a:t>·  Access Control Matrix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28016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Prompt"/>
              </a:rPr>
              <a:t>Django 6.0.6  ·  Apple Liquid Glass UI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658368"/>
            <a:ext cx="1097280" cy="329184"/>
          </a:xfrm>
          <a:prstGeom prst="roundRect">
            <a:avLst>
              <a:gd name="adj" fmla="val 40000"/>
            </a:avLst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9494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Prompt-Bold"/>
              </a:rPr>
              <a:t>ส่วนที่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667512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Prompt-Bold"/>
              </a:rPr>
              <a:t>ตารางสรุปบทบาทและสิทธิ์การเข้าถึง (RBAC Role Matrix)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078992"/>
            <a:ext cx="11274552" cy="12700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18872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Prompt"/>
              </a:rPr>
              <a:t>เมทริกซ์สรุปการเข้าถึงทุกเส้นทาง (URL Routes) และฟังก์ชันสำคัญในระบบตามบทบาทผู้ใช้งานทั้ง 4 กลุ่ม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57200" y="1508760"/>
          <a:ext cx="11274552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5112"/>
                <a:gridCol w="1737360"/>
                <a:gridCol w="1737360"/>
                <a:gridCol w="1737360"/>
                <a:gridCol w="1737360"/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F8FAFC"/>
                          </a:solidFill>
                          <a:latin typeface="Prompt-Bold"/>
                        </a:defRPr>
                      </a:pPr>
                      <a:r>
                        <a:t>หน้าเว็บ / ฟังก์ชันการทำงาน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8FAFC"/>
                          </a:solidFill>
                          <a:latin typeface="Prompt-Bold"/>
                        </a:defRPr>
                      </a:pPr>
                      <a:r>
                        <a:t>Manager (ผู้จัดการ)</a:t>
                      </a:r>
                    </a:p>
                  </a:txBody>
                  <a:tcPr>
                    <a:solidFill>
                      <a:srgbClr val="0A1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8FAFC"/>
                          </a:solidFill>
                          <a:latin typeface="Prompt-Bold"/>
                        </a:defRPr>
                      </a:pPr>
                      <a:r>
                        <a:t>Staff (เจ้าหน้าที่)</a:t>
                      </a:r>
                    </a:p>
                  </a:txBody>
                  <a:tcPr>
                    <a:solidFill>
                      <a:srgbClr val="0A1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8FAFC"/>
                          </a:solidFill>
                          <a:latin typeface="Prompt-Bold"/>
                        </a:defRPr>
                      </a:pPr>
                      <a:r>
                        <a:t>Member (สมาชิก)</a:t>
                      </a:r>
                    </a:p>
                  </a:txBody>
                  <a:tcPr>
                    <a:solidFill>
                      <a:srgbClr val="0A1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8FAFC"/>
                          </a:solidFill>
                          <a:latin typeface="Prompt-Bold"/>
                        </a:defRPr>
                      </a:pPr>
                      <a:r>
                        <a:t>Guest (ผู้เยี่ยมชม)</a:t>
                      </a:r>
                    </a:p>
                  </a:txBody>
                  <a:tcPr>
                    <a:solidFill>
                      <a:srgbClr val="0A1A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8FAFC"/>
                          </a:solidFill>
                          <a:latin typeface="Prompt"/>
                        </a:defRPr>
                      </a:pPr>
                      <a:r>
                        <a:t>/staff/users/ — RBAC Portal จัดการสิทธิ์</a:t>
                      </a:r>
                    </a:p>
                  </a:txBody>
                  <a:tcPr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4D399"/>
                          </a:solidFill>
                          <a:latin typeface="Prompt"/>
                        </a:defRPr>
                      </a:pPr>
                      <a:r>
                        <a:t>อนุญาต [OK]</a:t>
                      </a:r>
                    </a:p>
                  </a:txBody>
                  <a:tcPr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87171"/>
                          </a:solidFill>
                          <a:latin typeface="Prompt"/>
                        </a:defRPr>
                      </a:pPr>
                      <a:r>
                        <a:t>ไม่อนุญาต [X]</a:t>
                      </a:r>
                    </a:p>
                  </a:txBody>
                  <a:tcPr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87171"/>
                          </a:solidFill>
                          <a:latin typeface="Prompt"/>
                        </a:defRPr>
                      </a:pPr>
                      <a:r>
                        <a:t>ไม่อนุญาต [X]</a:t>
                      </a:r>
                    </a:p>
                  </a:txBody>
                  <a:tcPr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87171"/>
                          </a:solidFill>
                          <a:latin typeface="Prompt"/>
                        </a:defRPr>
                      </a:pPr>
                      <a:r>
                        <a:t>ไม่อนุญาต [X]</a:t>
                      </a:r>
                    </a:p>
                  </a:txBody>
                  <a:tcPr>
                    <a:solidFill>
                      <a:srgbClr val="141B2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8FAFC"/>
                          </a:solidFill>
                          <a:latin typeface="Prompt"/>
                        </a:defRPr>
                      </a:pPr>
                      <a:r>
                        <a:t>/employees/ — บริหารจัดการพนักงาน (CRUD)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4D399"/>
                          </a:solidFill>
                          <a:latin typeface="Prompt"/>
                        </a:defRPr>
                      </a:pPr>
                      <a:r>
                        <a:t>อนุญาต [OK]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4D399"/>
                          </a:solidFill>
                          <a:latin typeface="Prompt"/>
                        </a:defRPr>
                      </a:pPr>
                      <a:r>
                        <a:t>อนุญาต [OK]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87171"/>
                          </a:solidFill>
                          <a:latin typeface="Prompt"/>
                        </a:defRPr>
                      </a:pPr>
                      <a:r>
                        <a:t>ไม่อนุญาต [X]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87171"/>
                          </a:solidFill>
                          <a:latin typeface="Prompt"/>
                        </a:defRPr>
                      </a:pPr>
                      <a:r>
                        <a:t>ไม่อนุญาต [X]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8FAFC"/>
                          </a:solidFill>
                          <a:latin typeface="Prompt"/>
                        </a:defRPr>
                      </a:pPr>
                      <a:r>
                        <a:t>/orders/ — ตรวจสอบและอัปเดตสถานะออเดอร์</a:t>
                      </a:r>
                    </a:p>
                  </a:txBody>
                  <a:tcPr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4D399"/>
                          </a:solidFill>
                          <a:latin typeface="Prompt"/>
                        </a:defRPr>
                      </a:pPr>
                      <a:r>
                        <a:t>อนุญาต [OK]</a:t>
                      </a:r>
                    </a:p>
                  </a:txBody>
                  <a:tcPr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4D399"/>
                          </a:solidFill>
                          <a:latin typeface="Prompt"/>
                        </a:defRPr>
                      </a:pPr>
                      <a:r>
                        <a:t>อนุญาต [OK]</a:t>
                      </a:r>
                    </a:p>
                  </a:txBody>
                  <a:tcPr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87171"/>
                          </a:solidFill>
                          <a:latin typeface="Prompt"/>
                        </a:defRPr>
                      </a:pPr>
                      <a:r>
                        <a:t>ไม่อนุญาต [X]</a:t>
                      </a:r>
                    </a:p>
                  </a:txBody>
                  <a:tcPr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87171"/>
                          </a:solidFill>
                          <a:latin typeface="Prompt"/>
                        </a:defRPr>
                      </a:pPr>
                      <a:r>
                        <a:t>ไม่อนุญาต [X]</a:t>
                      </a:r>
                    </a:p>
                  </a:txBody>
                  <a:tcPr>
                    <a:solidFill>
                      <a:srgbClr val="141B2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8FAFC"/>
                          </a:solidFill>
                          <a:latin typeface="Prompt"/>
                        </a:defRPr>
                      </a:pPr>
                      <a:r>
                        <a:t>/product/manage/ — จัดการสต็อกสินค้า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4D399"/>
                          </a:solidFill>
                          <a:latin typeface="Prompt"/>
                        </a:defRPr>
                      </a:pPr>
                      <a:r>
                        <a:t>อนุญาต [OK]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4D399"/>
                          </a:solidFill>
                          <a:latin typeface="Prompt"/>
                        </a:defRPr>
                      </a:pPr>
                      <a:r>
                        <a:t>อนุญาต [OK]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87171"/>
                          </a:solidFill>
                          <a:latin typeface="Prompt"/>
                        </a:defRPr>
                      </a:pPr>
                      <a:r>
                        <a:t>ไม่อนุญาต [X]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87171"/>
                          </a:solidFill>
                          <a:latin typeface="Prompt"/>
                        </a:defRPr>
                      </a:pPr>
                      <a:r>
                        <a:t>ไม่อนุญาต [X]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8FAFC"/>
                          </a:solidFill>
                          <a:latin typeface="Prompt"/>
                        </a:defRPr>
                      </a:pPr>
                      <a:r>
                        <a:t>/dashboard/ &amp; /reports/ — แดชบอร์ดและรายงาน</a:t>
                      </a:r>
                    </a:p>
                  </a:txBody>
                  <a:tcPr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4D399"/>
                          </a:solidFill>
                          <a:latin typeface="Prompt"/>
                        </a:defRPr>
                      </a:pPr>
                      <a:r>
                        <a:t>อนุญาต [OK]</a:t>
                      </a:r>
                    </a:p>
                  </a:txBody>
                  <a:tcPr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4D399"/>
                          </a:solidFill>
                          <a:latin typeface="Prompt"/>
                        </a:defRPr>
                      </a:pPr>
                      <a:r>
                        <a:t>อนุญาต [OK]</a:t>
                      </a:r>
                    </a:p>
                  </a:txBody>
                  <a:tcPr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87171"/>
                          </a:solidFill>
                          <a:latin typeface="Prompt"/>
                        </a:defRPr>
                      </a:pPr>
                      <a:r>
                        <a:t>ไม่อนุญาต [X]</a:t>
                      </a:r>
                    </a:p>
                  </a:txBody>
                  <a:tcPr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87171"/>
                          </a:solidFill>
                          <a:latin typeface="Prompt"/>
                        </a:defRPr>
                      </a:pPr>
                      <a:r>
                        <a:t>ไม่อนุญาต [X]</a:t>
                      </a:r>
                    </a:p>
                  </a:txBody>
                  <a:tcPr>
                    <a:solidFill>
                      <a:srgbClr val="141B2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8FAFC"/>
                          </a:solidFill>
                          <a:latin typeface="Prompt"/>
                        </a:defRPr>
                      </a:pPr>
                      <a:r>
                        <a:t>/account/ — โปรไฟล์, ที่อยู่ และประวัติการสั่งซื้อ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4D399"/>
                          </a:solidFill>
                          <a:latin typeface="Prompt"/>
                        </a:defRPr>
                      </a:pPr>
                      <a:r>
                        <a:t>อนุญาต [OK]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4D399"/>
                          </a:solidFill>
                          <a:latin typeface="Prompt"/>
                        </a:defRPr>
                      </a:pPr>
                      <a:r>
                        <a:t>อนุญาต [OK]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4D399"/>
                          </a:solidFill>
                          <a:latin typeface="Prompt"/>
                        </a:defRPr>
                      </a:pPr>
                      <a:r>
                        <a:t>อนุญาต [OK]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87171"/>
                          </a:solidFill>
                          <a:latin typeface="Prompt"/>
                        </a:defRPr>
                      </a:pPr>
                      <a:r>
                        <a:t>ไม่อนุญาต [X]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8FAFC"/>
                          </a:solidFill>
                          <a:latin typeface="Prompt"/>
                        </a:defRPr>
                      </a:pPr>
                      <a:r>
                        <a:t>/shop/ &amp; /cart/ — เลือกซื้อสินค้าและตะกร้า</a:t>
                      </a:r>
                    </a:p>
                  </a:txBody>
                  <a:tcPr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4D399"/>
                          </a:solidFill>
                          <a:latin typeface="Prompt"/>
                        </a:defRPr>
                      </a:pPr>
                      <a:r>
                        <a:t>อนุญาต [OK]</a:t>
                      </a:r>
                    </a:p>
                  </a:txBody>
                  <a:tcPr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4D399"/>
                          </a:solidFill>
                          <a:latin typeface="Prompt"/>
                        </a:defRPr>
                      </a:pPr>
                      <a:r>
                        <a:t>อนุญาต [OK]</a:t>
                      </a:r>
                    </a:p>
                  </a:txBody>
                  <a:tcPr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4D399"/>
                          </a:solidFill>
                          <a:latin typeface="Prompt"/>
                        </a:defRPr>
                      </a:pPr>
                      <a:r>
                        <a:t>อนุญาต [OK]</a:t>
                      </a:r>
                    </a:p>
                  </a:txBody>
                  <a:tcPr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4D399"/>
                          </a:solidFill>
                          <a:latin typeface="Prompt"/>
                        </a:defRPr>
                      </a:pPr>
                      <a:r>
                        <a:t>อนุญาต [OK]</a:t>
                      </a:r>
                    </a:p>
                  </a:txBody>
                  <a:tcPr>
                    <a:solidFill>
                      <a:srgbClr val="141B2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8FAFC"/>
                          </a:solidFill>
                          <a:latin typeface="Prompt"/>
                        </a:defRPr>
                      </a:pPr>
                      <a:r>
                        <a:t>/checkout/ — ชำระเงินและแจ้งสลิปโอนเงิน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4D399"/>
                          </a:solidFill>
                          <a:latin typeface="Prompt"/>
                        </a:defRPr>
                      </a:pPr>
                      <a:r>
                        <a:t>อนุญาต [OK]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4D399"/>
                          </a:solidFill>
                          <a:latin typeface="Prompt"/>
                        </a:defRPr>
                      </a:pPr>
                      <a:r>
                        <a:t>อนุญาต [OK]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4D399"/>
                          </a:solidFill>
                          <a:latin typeface="Prompt"/>
                        </a:defRPr>
                      </a:pPr>
                      <a:r>
                        <a:t>อนุญาต [OK]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4D399"/>
                          </a:solidFill>
                          <a:latin typeface="Prompt"/>
                        </a:defRPr>
                      </a:pPr>
                      <a:r>
                        <a:t>อนุญาต [OK]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457200" y="4937760"/>
            <a:ext cx="11274552" cy="1371600"/>
          </a:xfrm>
          <a:prstGeom prst="roundRect">
            <a:avLst>
              <a:gd name="adj" fmla="val 8000"/>
            </a:avLst>
          </a:prstGeom>
          <a:solidFill>
            <a:srgbClr val="141B2D"/>
          </a:solidFill>
          <a:ln w="12700">
            <a:solidFill>
              <a:srgbClr val="1E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010912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38BDF8"/>
                </a:solidFill>
                <a:latin typeface="Prompt-Bold"/>
              </a:rPr>
              <a:t>คำนิยามบทบาทผู้ใช้งาน (Role Definitions &amp; Django Groups):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257800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FCD34D"/>
                </a:solidFill>
                <a:latin typeface="Prompt-Bold"/>
              </a:rPr>
              <a:t>• Manager (ผู้จัดการ)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5257800"/>
            <a:ext cx="8961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F8FAFC"/>
                </a:solidFill>
                <a:latin typeface="Prompt"/>
              </a:rPr>
              <a:t>—  ผู้ดูแลระบบสูงสุด ครอบครองสิทธิ์ is_staff=True + อยู่ในกลุ่ม 'Manager' เข้าถึงได้ทุกหน้าในระบบ รวมถึง RBAC Portal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495544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38BDF8"/>
                </a:solidFill>
                <a:latin typeface="Prompt-Bold"/>
              </a:rPr>
              <a:t>• Staff (เจ้าหน้าที่)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5495544"/>
            <a:ext cx="8961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F8FAFC"/>
                </a:solidFill>
                <a:latin typeface="Prompt"/>
              </a:rPr>
              <a:t>—  เจ้าหน้าที่ปฏิบัติงาน ครอบครองสิทธิ์ is_staff=True + อยู่ในกลุ่ม 'Staff' เข้าถึงหน้าจัดการพนักงาน, สินค้า, ออเดอร์ได้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733288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34D399"/>
                </a:solidFill>
                <a:latin typeface="Prompt-Bold"/>
              </a:rPr>
              <a:t>• Member (สมาชิกทั่วไป)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5733288"/>
            <a:ext cx="8961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F8FAFC"/>
                </a:solidFill>
                <a:latin typeface="Prompt"/>
              </a:rPr>
              <a:t>—  ลูกค้าที่สมัครสมาชิก is_staff=False + อยู่ในกลุ่ม 'Member' สั่งซื้อสินค้า, มีหน้าโปรไฟล์ และประวัติออเดอร์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971032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94A3B8"/>
                </a:solidFill>
                <a:latin typeface="Prompt-Bold"/>
              </a:rPr>
              <a:t>• Guest (ผู้เยี่ยมชม)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1760" y="5971032"/>
            <a:ext cx="8961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F8FAFC"/>
                </a:solidFill>
                <a:latin typeface="Prompt"/>
              </a:rPr>
              <a:t>—  ผู้ใช้ทั่วไปที่ยังไม่ได้เข้าสู่ระบบ สามารถเลือกดูสินค้า เพิ่มสินค้าลงตะกร้า และสั่งซื้อสินค้าได้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6492240"/>
            <a:ext cx="3959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64748B"/>
                </a:solidFill>
                <a:latin typeface="Prompt-Light"/>
              </a:rPr>
              <a:t>— สไลด์ที่ 8 จาก 9 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6492240"/>
            <a:ext cx="3959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64748B"/>
                </a:solidFill>
                <a:latin typeface="Prompt-Light"/>
              </a:rPr>
              <a:t>นายธรรมธัช รูปไธสง  ·  มรภ.กำแพงเพชร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65526" cy="54864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238" y="0"/>
            <a:ext cx="3065526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4476" y="0"/>
            <a:ext cx="3065526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1714" y="0"/>
            <a:ext cx="3065526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4864"/>
            <a:ext cx="12188952" cy="438912"/>
          </a:xfrm>
          <a:prstGeom prst="rect">
            <a:avLst/>
          </a:prstGeom>
          <a:solidFill>
            <a:srgbClr val="0E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93776"/>
            <a:ext cx="12188952" cy="12700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  <a:latin typeface="Prompt-Bold"/>
              </a:rPr>
              <a:t>THAMMATHAD SHOP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128016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Prompt-Light"/>
              </a:rPr>
              <a:t>·  Quality Assurance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28016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Prompt"/>
              </a:rPr>
              <a:t>Django 6.0.6  ·  Apple Liquid Glass UI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658368"/>
            <a:ext cx="1097280" cy="329184"/>
          </a:xfrm>
          <a:prstGeom prst="roundRect">
            <a:avLst>
              <a:gd name="adj" fmla="val 40000"/>
            </a:avLst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9494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Prompt-Bold"/>
              </a:rPr>
              <a:t>ส่วนที่ 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667512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Prompt-Bold"/>
              </a:rPr>
              <a:t>ชุดทดสอบระบบ &amp; สรุปผลลัพธ์ (Test Results &amp; System Summary)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078992"/>
            <a:ext cx="11274552" cy="12700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18872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34D399"/>
                </a:solidFill>
                <a:latin typeface="Prompt-Bold"/>
              </a:rPr>
              <a:t>[OK] ชุดทดสอบอัตโนมัติ (Automated Test Suite — 117 Tests 100% Passed)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1508760"/>
            <a:ext cx="5440680" cy="4754880"/>
          </a:xfrm>
          <a:prstGeom prst="roundRect">
            <a:avLst>
              <a:gd name="adj" fmla="val 8000"/>
            </a:avLst>
          </a:prstGeom>
          <a:solidFill>
            <a:srgbClr val="0E1526"/>
          </a:solidFill>
          <a:ln w="12700">
            <a:solidFill>
              <a:srgbClr val="1E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17830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Prompt-SemiBold"/>
              </a:rPr>
              <a:t>1. Registration &amp; Validation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08960" y="1819656"/>
            <a:ext cx="1645920" cy="182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108960" y="1819656"/>
            <a:ext cx="1536192" cy="18288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64608" y="1783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4D399"/>
                </a:solidFill>
                <a:latin typeface="Prompt-Bold"/>
              </a:rPr>
              <a:t>28 ผ่าน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222199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Prompt-SemiBold"/>
              </a:rPr>
              <a:t>2. Login / Logout (Staff &amp; Customer)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08960" y="2258568"/>
            <a:ext cx="1645920" cy="182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108960" y="2258568"/>
            <a:ext cx="1207008" cy="1828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64608" y="222199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4D399"/>
                </a:solidFill>
                <a:latin typeface="Prompt-Bold"/>
              </a:rPr>
              <a:t>22 ผ่าน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266090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Prompt-SemiBold"/>
              </a:rPr>
              <a:t>3. Session Expiry &amp; Remember Me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08960" y="2697480"/>
            <a:ext cx="1645920" cy="182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108960" y="2697480"/>
            <a:ext cx="658368" cy="1828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64608" y="266090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4D399"/>
                </a:solidFill>
                <a:latin typeface="Prompt-Bold"/>
              </a:rPr>
              <a:t>12 ผ่าน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309981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Prompt-SemiBold"/>
              </a:rPr>
              <a:t>4. Profile View / Edit / Password Change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08960" y="3136392"/>
            <a:ext cx="1645920" cy="182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108960" y="3136392"/>
            <a:ext cx="987552" cy="182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64608" y="309981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4D399"/>
                </a:solidFill>
                <a:latin typeface="Prompt-Bold"/>
              </a:rPr>
              <a:t>18 ผ่าน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353872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Prompt-SemiBold"/>
              </a:rPr>
              <a:t>5. Protected Pages &amp; 403 Forbidden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08960" y="3575304"/>
            <a:ext cx="1645920" cy="182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108960" y="3575304"/>
            <a:ext cx="1097280" cy="18288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64608" y="35387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4D399"/>
                </a:solidFill>
                <a:latin typeface="Prompt-Bold"/>
              </a:rPr>
              <a:t>20 ผ่าน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397764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Prompt-SemiBold"/>
              </a:rPr>
              <a:t>6. RBAC Portal — Role Switch &amp; Sync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08960" y="4014216"/>
            <a:ext cx="1645920" cy="182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108960" y="4014216"/>
            <a:ext cx="932688" cy="1828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64608" y="39776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4D399"/>
                </a:solidFill>
                <a:latin typeface="Prompt-Bold"/>
              </a:rPr>
              <a:t>17 ผ่าน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5800" y="4617720"/>
            <a:ext cx="4983480" cy="1371600"/>
          </a:xfrm>
          <a:prstGeom prst="roundRect">
            <a:avLst>
              <a:gd name="adj" fmla="val 10000"/>
            </a:avLst>
          </a:prstGeom>
          <a:solidFill>
            <a:srgbClr val="052819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4754880"/>
            <a:ext cx="4983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  <a:latin typeface="Prompt-Bold"/>
              </a:rPr>
              <a:t>117 Tests — 100% PASSED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5257800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F8FAFC"/>
                </a:solidFill>
                <a:latin typeface="Prompt"/>
              </a:rPr>
              <a:t>ผ่านครบถ้วนทุกกรณีทดสอบ (Edge Cases, Security &amp; Roles)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5532120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94A3B8"/>
                </a:solidFill>
                <a:latin typeface="Prompt-Light"/>
              </a:rPr>
              <a:t>ทดสอบบน Python 3.14 + Django 6.0.6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91072" y="118872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  <a:latin typeface="Prompt-Bold"/>
              </a:rPr>
              <a:t>[+] จุดเด่นและคุณค่าของระบบ (System Highlights &amp; Core Values)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91072" y="1508760"/>
            <a:ext cx="5440680" cy="4754880"/>
          </a:xfrm>
          <a:prstGeom prst="roundRect">
            <a:avLst>
              <a:gd name="adj" fmla="val 8000"/>
            </a:avLst>
          </a:prstGeom>
          <a:solidFill>
            <a:srgbClr val="0E1526"/>
          </a:solidFill>
          <a:ln w="12700">
            <a:solidFill>
              <a:srgbClr val="1E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92240" y="16916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F43F5E"/>
                </a:solidFill>
                <a:latin typeface="Prompt-Bold"/>
              </a:rPr>
              <a:t>Security First (ความปลอดภัยสูงสุด)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0" y="1947672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Prompt"/>
              </a:rPr>
              <a:t>• รหัสผ่านเข้ารหัส PBKDF2 ด้วยเกลือ (Salt) สองทาง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80" y="2176272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Prompt"/>
              </a:rPr>
              <a:t>• ออกจากระบบด้วย POST-only ป้องกันการโจมตี CSRF 100%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0" y="2404872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Prompt"/>
              </a:rPr>
              <a:t>• ระบบบันไดสถานะออเดอร์ และจุดรับเงินจุดเดียว (Single Payment)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0" y="2798064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06B6D4"/>
                </a:solidFill>
                <a:latin typeface="Prompt-Bold"/>
              </a:rPr>
              <a:t>User Experience (ประสบการณ์ผู้ใช้ระดับ Apple)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80" y="3054096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Prompt"/>
              </a:rPr>
              <a:t>• Apple Liquid Glass Design System หรูหราทันสมัย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80" y="3282696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Prompt"/>
              </a:rPr>
              <a:t>• รองรับรูปโปรไฟล์และภาพพื้นหลัง GIF ขยับได้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0" y="3511296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Prompt"/>
              </a:rPr>
              <a:t>• ระบบแสดงวันที่ปฏิทินไทย (พ.ศ.) และ Real-time Search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92240" y="390448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10B981"/>
                </a:solidFill>
                <a:latin typeface="Prompt-Bold"/>
              </a:rPr>
              <a:t>Code Quality &amp; OOP (สถาปัตยกรรมโค้ดคุณภาพ)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0" y="4160520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Prompt"/>
              </a:rPr>
              <a:t>• แยก Service Layer และ Class-Based Views (CBV) 100%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83680" y="4389120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Prompt"/>
              </a:rPr>
              <a:t>• Custom QuerySets / Managers สำหรับทุกโมเดล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0" y="4617720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Prompt"/>
              </a:rPr>
              <a:t>• รองรับ REST API สำหรับโมบายล์แอปพลิเคชัน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492240" y="4892040"/>
            <a:ext cx="5029200" cy="1097280"/>
          </a:xfrm>
          <a:prstGeom prst="roundRect">
            <a:avLst>
              <a:gd name="adj" fmla="val 8000"/>
            </a:avLst>
          </a:prstGeom>
          <a:solidFill>
            <a:srgbClr val="121C35"/>
          </a:solidFill>
          <a:ln w="12700">
            <a:solidFill>
              <a:srgbClr val="1E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75120" y="498348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  <a:latin typeface="Prompt-Bold"/>
              </a:rPr>
              <a:t>ผู้พัฒนา: นายธรรมธัช รูปไธสง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75120" y="525780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Prompt"/>
              </a:rPr>
              <a:t>สาขาวิทยาการคอมพิวเตอร์  มหาวิทยาลัยราชภัฏกำแพงเพชร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75120" y="5532120"/>
            <a:ext cx="46634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Prompt-Light"/>
              </a:rPr>
              <a:t>ระบบร้านค้าออนไลน์ THAMMATHAD SHOP  ·  2026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114800" y="6492240"/>
            <a:ext cx="3959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64748B"/>
                </a:solidFill>
                <a:latin typeface="Prompt-Light"/>
              </a:rPr>
              <a:t>— สไลด์ที่ 9 จาก 9 —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772400" y="6492240"/>
            <a:ext cx="3959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64748B"/>
                </a:solidFill>
                <a:latin typeface="Prompt-Light"/>
              </a:rPr>
              <a:t>นายธรรมธัช รูปไธสง  ·  มรภ.กำแพงเพชร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